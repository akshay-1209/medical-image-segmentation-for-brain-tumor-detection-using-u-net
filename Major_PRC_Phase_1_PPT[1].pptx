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3"/>
  </p:notesMasterIdLst>
  <p:sldIdLst>
    <p:sldId id="256" r:id="rId3"/>
    <p:sldId id="403" r:id="rId4"/>
    <p:sldId id="399" r:id="rId5"/>
    <p:sldId id="400" r:id="rId6"/>
    <p:sldId id="258" r:id="rId7"/>
    <p:sldId id="259" r:id="rId8"/>
    <p:sldId id="405" r:id="rId9"/>
    <p:sldId id="404" r:id="rId10"/>
    <p:sldId id="414" r:id="rId11"/>
    <p:sldId id="415" r:id="rId12"/>
    <p:sldId id="416" r:id="rId13"/>
    <p:sldId id="417" r:id="rId14"/>
    <p:sldId id="406" r:id="rId15"/>
    <p:sldId id="408" r:id="rId16"/>
    <p:sldId id="410" r:id="rId17"/>
    <p:sldId id="411" r:id="rId18"/>
    <p:sldId id="412" r:id="rId19"/>
    <p:sldId id="413" r:id="rId20"/>
    <p:sldId id="401" r:id="rId21"/>
    <p:sldId id="28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715"/>
  </p:normalViewPr>
  <p:slideViewPr>
    <p:cSldViewPr showGuides="1">
      <p:cViewPr varScale="1">
        <p:scale>
          <a:sx n="84" d="100"/>
          <a:sy n="84" d="100"/>
        </p:scale>
        <p:origin x="1402" y="58"/>
      </p:cViewPr>
      <p:guideLst>
        <p:guide orient="horz" pos="2160"/>
        <p:guide pos="29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t>‹#›</a:t>
            </a:fld>
            <a:endParaRPr lang="en-IN"/>
          </a:p>
        </p:txBody>
      </p:sp>
    </p:spTree>
    <p:extLst>
      <p:ext uri="{BB962C8B-B14F-4D97-AF65-F5344CB8AC3E}">
        <p14:creationId xmlns:p14="http://schemas.microsoft.com/office/powerpoint/2010/main" val="2091627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fld id="{11216171-A131-4111-8101-11D1D10191D1}" type="slidenum">
              <a:rPr kumimoji="0" lang="en-IN" sz="1800" b="0" i="0" u="none" strike="noStrike" kern="1200" cap="none" spc="0" normalizeH="0" baseline="0" noProof="0">
                <a:ln>
                  <a:noFill/>
                </a:ln>
                <a:solidFill>
                  <a:srgbClr val="000000"/>
                </a:solidFill>
                <a:effectLst/>
                <a:uLnTx/>
                <a:uFillTx/>
                <a:latin typeface="Arial"/>
                <a:ea typeface="+mn-ea"/>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3593869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t>3</a:t>
            </a:fld>
            <a:endParaRPr lang="en-IN">
              <a:solidFill>
                <a:srgbClr val="000000"/>
              </a:solidFill>
              <a:latin typeface="+mn-lt"/>
              <a:ea typeface="+mn-ea"/>
            </a:endParaRPr>
          </a:p>
        </p:txBody>
      </p:sp>
    </p:spTree>
    <p:extLst>
      <p:ext uri="{BB962C8B-B14F-4D97-AF65-F5344CB8AC3E}">
        <p14:creationId xmlns:p14="http://schemas.microsoft.com/office/powerpoint/2010/main" val="2624912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5</a:t>
            </a:fld>
            <a:endParaRPr lang="en-IN">
              <a:solidFill>
                <a:srgbClr val="000000"/>
              </a:solidFill>
              <a:latin typeface="+mn-lt"/>
              <a:ea typeface="+mn-ea"/>
            </a:endParaRPr>
          </a:p>
        </p:txBody>
      </p:sp>
    </p:spTree>
    <p:extLst>
      <p:ext uri="{BB962C8B-B14F-4D97-AF65-F5344CB8AC3E}">
        <p14:creationId xmlns:p14="http://schemas.microsoft.com/office/powerpoint/2010/main" val="1435686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6</a:t>
            </a:fld>
            <a:endParaRPr lang="en-IN">
              <a:solidFill>
                <a:srgbClr val="000000"/>
              </a:solidFill>
              <a:latin typeface="+mn-lt"/>
              <a:ea typeface="+mn-ea"/>
            </a:endParaRPr>
          </a:p>
        </p:txBody>
      </p:sp>
    </p:spTree>
    <p:extLst>
      <p:ext uri="{BB962C8B-B14F-4D97-AF65-F5344CB8AC3E}">
        <p14:creationId xmlns:p14="http://schemas.microsoft.com/office/powerpoint/2010/main" val="3987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7</a:t>
            </a:fld>
            <a:endParaRPr lang="en-IN">
              <a:solidFill>
                <a:srgbClr val="000000"/>
              </a:solidFill>
              <a:latin typeface="+mn-lt"/>
              <a:ea typeface="+mn-ea"/>
            </a:endParaRPr>
          </a:p>
        </p:txBody>
      </p:sp>
    </p:spTree>
    <p:extLst>
      <p:ext uri="{BB962C8B-B14F-4D97-AF65-F5344CB8AC3E}">
        <p14:creationId xmlns:p14="http://schemas.microsoft.com/office/powerpoint/2010/main" val="1283872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8</a:t>
            </a:fld>
            <a:endParaRPr lang="en-IN">
              <a:solidFill>
                <a:srgbClr val="000000"/>
              </a:solidFill>
              <a:latin typeface="+mn-lt"/>
              <a:ea typeface="+mn-ea"/>
            </a:endParaRPr>
          </a:p>
        </p:txBody>
      </p:sp>
    </p:spTree>
    <p:extLst>
      <p:ext uri="{BB962C8B-B14F-4D97-AF65-F5344CB8AC3E}">
        <p14:creationId xmlns:p14="http://schemas.microsoft.com/office/powerpoint/2010/main" val="1480541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9</a:t>
            </a:fld>
            <a:endParaRPr lang="en-IN">
              <a:solidFill>
                <a:srgbClr val="000000"/>
              </a:solidFill>
              <a:latin typeface="+mn-lt"/>
              <a:ea typeface="+mn-ea"/>
            </a:endParaRPr>
          </a:p>
        </p:txBody>
      </p:sp>
    </p:spTree>
    <p:extLst>
      <p:ext uri="{BB962C8B-B14F-4D97-AF65-F5344CB8AC3E}">
        <p14:creationId xmlns:p14="http://schemas.microsoft.com/office/powerpoint/2010/main" val="238256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10</a:t>
            </a:fld>
            <a:endParaRPr lang="en-IN">
              <a:solidFill>
                <a:srgbClr val="000000"/>
              </a:solidFill>
              <a:latin typeface="+mn-lt"/>
              <a:ea typeface="+mn-ea"/>
            </a:endParaRPr>
          </a:p>
        </p:txBody>
      </p:sp>
    </p:spTree>
    <p:extLst>
      <p:ext uri="{BB962C8B-B14F-4D97-AF65-F5344CB8AC3E}">
        <p14:creationId xmlns:p14="http://schemas.microsoft.com/office/powerpoint/2010/main" val="1822503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11</a:t>
            </a:fld>
            <a:endParaRPr lang="en-IN">
              <a:solidFill>
                <a:srgbClr val="000000"/>
              </a:solidFill>
              <a:latin typeface="+mn-lt"/>
              <a:ea typeface="+mn-ea"/>
            </a:endParaRPr>
          </a:p>
        </p:txBody>
      </p:sp>
    </p:spTree>
    <p:extLst>
      <p:ext uri="{BB962C8B-B14F-4D97-AF65-F5344CB8AC3E}">
        <p14:creationId xmlns:p14="http://schemas.microsoft.com/office/powerpoint/2010/main" val="1764586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12</a:t>
            </a:fld>
            <a:endParaRPr lang="en-IN">
              <a:solidFill>
                <a:srgbClr val="000000"/>
              </a:solidFill>
              <a:latin typeface="+mn-lt"/>
              <a:ea typeface="+mn-ea"/>
            </a:endParaRPr>
          </a:p>
        </p:txBody>
      </p:sp>
    </p:spTree>
    <p:extLst>
      <p:ext uri="{BB962C8B-B14F-4D97-AF65-F5344CB8AC3E}">
        <p14:creationId xmlns:p14="http://schemas.microsoft.com/office/powerpoint/2010/main" val="1487604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13</a:t>
            </a:fld>
            <a:endParaRPr lang="en-IN">
              <a:solidFill>
                <a:srgbClr val="000000"/>
              </a:solidFill>
              <a:latin typeface="+mn-lt"/>
              <a:ea typeface="+mn-ea"/>
            </a:endParaRPr>
          </a:p>
        </p:txBody>
      </p:sp>
    </p:spTree>
    <p:extLst>
      <p:ext uri="{BB962C8B-B14F-4D97-AF65-F5344CB8AC3E}">
        <p14:creationId xmlns:p14="http://schemas.microsoft.com/office/powerpoint/2010/main" val="5434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16</a:t>
            </a:fld>
            <a:endParaRPr lang="en-IN">
              <a:solidFill>
                <a:srgbClr val="000000"/>
              </a:solidFill>
              <a:latin typeface="+mn-lt"/>
              <a:ea typeface="+mn-ea"/>
            </a:endParaRPr>
          </a:p>
        </p:txBody>
      </p:sp>
    </p:spTree>
    <p:extLst>
      <p:ext uri="{BB962C8B-B14F-4D97-AF65-F5344CB8AC3E}">
        <p14:creationId xmlns:p14="http://schemas.microsoft.com/office/powerpoint/2010/main" val="657997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17</a:t>
            </a:fld>
            <a:endParaRPr lang="en-IN">
              <a:solidFill>
                <a:srgbClr val="000000"/>
              </a:solidFill>
              <a:latin typeface="+mn-lt"/>
              <a:ea typeface="+mn-ea"/>
            </a:endParaRPr>
          </a:p>
        </p:txBody>
      </p:sp>
    </p:spTree>
    <p:extLst>
      <p:ext uri="{BB962C8B-B14F-4D97-AF65-F5344CB8AC3E}">
        <p14:creationId xmlns:p14="http://schemas.microsoft.com/office/powerpoint/2010/main" val="1927068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18</a:t>
            </a:fld>
            <a:endParaRPr lang="en-IN">
              <a:solidFill>
                <a:srgbClr val="000000"/>
              </a:solidFill>
              <a:latin typeface="+mn-lt"/>
              <a:ea typeface="+mn-ea"/>
            </a:endParaRPr>
          </a:p>
        </p:txBody>
      </p:sp>
    </p:spTree>
    <p:extLst>
      <p:ext uri="{BB962C8B-B14F-4D97-AF65-F5344CB8AC3E}">
        <p14:creationId xmlns:p14="http://schemas.microsoft.com/office/powerpoint/2010/main" val="75548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2167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4513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717117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51890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75743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329822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2690308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2883289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extLst>
      <p:ext uri="{BB962C8B-B14F-4D97-AF65-F5344CB8AC3E}">
        <p14:creationId xmlns:p14="http://schemas.microsoft.com/office/powerpoint/2010/main" val="33427756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1162341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988516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491194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p>
          <a:p>
            <a:pPr lvl="1">
              <a:buSzPct val="75000"/>
              <a:buFont typeface="StarSymbol"/>
              <a:buChar char=""/>
            </a:pPr>
            <a:r>
              <a:rPr lang="en-IN"/>
              <a:t>Second Outline Level</a:t>
            </a:r>
          </a:p>
          <a:p>
            <a:pPr lvl="2">
              <a:buSzPct val="45000"/>
              <a:buFont typeface="StarSymbol"/>
              <a:buChar char=""/>
            </a:pPr>
            <a:r>
              <a:rPr lang="en-IN"/>
              <a:t>Third Outline Level</a:t>
            </a:r>
          </a:p>
          <a:p>
            <a:pPr lvl="3">
              <a:buSzPct val="75000"/>
              <a:buFont typeface="StarSymbol"/>
              <a:buChar char=""/>
            </a:pPr>
            <a:r>
              <a:rPr lang="en-IN"/>
              <a:t>Fourth Outline Level</a:t>
            </a:r>
          </a:p>
          <a:p>
            <a:pPr lvl="4">
              <a:buSzPct val="45000"/>
              <a:buFont typeface="StarSymbol"/>
              <a:buChar char=""/>
            </a:pPr>
            <a:r>
              <a:rPr lang="en-IN"/>
              <a:t>Fifth Outline Level</a:t>
            </a:r>
          </a:p>
          <a:p>
            <a:pPr lvl="5">
              <a:buSzPct val="45000"/>
              <a:buFont typeface="StarSymbol"/>
              <a:buChar char=""/>
            </a:pPr>
            <a:r>
              <a:rPr lang="en-IN"/>
              <a:t>Sixth Outline Level</a:t>
            </a:r>
          </a:p>
          <a:p>
            <a:pPr lvl="6">
              <a:buSzPct val="45000"/>
              <a:buFont typeface="StarSymbol"/>
              <a:buChar char=""/>
            </a:pPr>
            <a:r>
              <a:rPr lang="en-IN"/>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extLst>
      <p:ext uri="{BB962C8B-B14F-4D97-AF65-F5344CB8AC3E}">
        <p14:creationId xmlns:p14="http://schemas.microsoft.com/office/powerpoint/2010/main" val="7401356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cancerimagingarchive.net/" TargetMode="External"/><Relationship Id="rId7" Type="http://schemas.openxmlformats.org/officeDocument/2006/relationships/hyperlink" Target="https://www.tensorflow.org/" TargetMode="External"/><Relationship Id="rId2" Type="http://schemas.openxmlformats.org/officeDocument/2006/relationships/hyperlink" Target="https://arxiv.org/abs/1505.04597" TargetMode="External"/><Relationship Id="rId1" Type="http://schemas.openxmlformats.org/officeDocument/2006/relationships/slideLayout" Target="../slideLayouts/slideLayout6.xml"/><Relationship Id="rId6" Type="http://schemas.openxmlformats.org/officeDocument/2006/relationships/hyperlink" Target="https://pytorch.org/" TargetMode="External"/><Relationship Id="rId5" Type="http://schemas.openxmlformats.org/officeDocument/2006/relationships/hyperlink" Target="https://simpleitk.org/" TargetMode="External"/><Relationship Id="rId4" Type="http://schemas.openxmlformats.org/officeDocument/2006/relationships/hyperlink" Target="http://braintumorsegmentation.or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137" y="1676400"/>
            <a:ext cx="8686800" cy="1323439"/>
          </a:xfrm>
          <a:prstGeom prst="rect">
            <a:avLst/>
          </a:prstGeom>
          <a:noFill/>
        </p:spPr>
        <p:txBody>
          <a:bodyPr wrap="square" rtlCol="0">
            <a:spAutoFit/>
          </a:bodyPr>
          <a:lstStyle/>
          <a:p>
            <a:pPr algn="ctr"/>
            <a:r>
              <a:rPr lang="en-US" sz="4000" b="1" dirty="0" smtClean="0">
                <a:ln w="1905"/>
                <a:solidFill>
                  <a:schemeClr val="accent4">
                    <a:lumMod val="75000"/>
                  </a:schemeClr>
                </a:solidFill>
                <a:effectLst>
                  <a:innerShdw blurRad="69850" dist="43180" dir="5400000">
                    <a:srgbClr val="000000">
                      <a:alpha val="65000"/>
                    </a:srgbClr>
                  </a:innerShdw>
                </a:effectLst>
              </a:rPr>
              <a:t>Medical Image Segmentation for Brain Tumor Detection using U-Net</a:t>
            </a:r>
            <a:endParaRPr lang="en-US" sz="4000" b="1" dirty="0">
              <a:ln w="1905"/>
              <a:solidFill>
                <a:schemeClr val="accent4">
                  <a:lumMod val="75000"/>
                </a:schemeClr>
              </a:solidFill>
              <a:effectLst>
                <a:innerShdw blurRad="69850" dist="43180" dir="5400000">
                  <a:srgbClr val="000000">
                    <a:alpha val="65000"/>
                  </a:srgbClr>
                </a:innerShdw>
              </a:effectLst>
            </a:endParaRPr>
          </a:p>
        </p:txBody>
      </p:sp>
      <p:sp>
        <p:nvSpPr>
          <p:cNvPr id="3" name="TextBox 2"/>
          <p:cNvSpPr txBox="1"/>
          <p:nvPr/>
        </p:nvSpPr>
        <p:spPr>
          <a:xfrm>
            <a:off x="5454868" y="3265848"/>
            <a:ext cx="3166241" cy="461665"/>
          </a:xfrm>
          <a:prstGeom prst="rect">
            <a:avLst/>
          </a:prstGeom>
          <a:noFill/>
        </p:spPr>
        <p:txBody>
          <a:bodyPr wrap="square" rtlCol="0">
            <a:spAutoFit/>
          </a:bodyPr>
          <a:lstStyle/>
          <a:p>
            <a:r>
              <a:rPr lang="en-US" sz="2400" b="1" dirty="0">
                <a:solidFill>
                  <a:schemeClr val="tx2">
                    <a:lumMod val="75000"/>
                  </a:schemeClr>
                </a:solidFill>
              </a:rPr>
              <a:t>Name of the student</a:t>
            </a:r>
          </a:p>
        </p:txBody>
      </p:sp>
      <p:sp>
        <p:nvSpPr>
          <p:cNvPr id="4" name="TextBox 3"/>
          <p:cNvSpPr txBox="1"/>
          <p:nvPr/>
        </p:nvSpPr>
        <p:spPr>
          <a:xfrm>
            <a:off x="255916" y="4728671"/>
            <a:ext cx="5181600" cy="1764586"/>
          </a:xfrm>
          <a:prstGeom prst="rect">
            <a:avLst/>
          </a:prstGeom>
          <a:noFill/>
        </p:spPr>
        <p:txBody>
          <a:bodyPr wrap="square" rtlCol="0">
            <a:spAutoFit/>
          </a:bodyPr>
          <a:lstStyle/>
          <a:p>
            <a:pPr marR="64135" lvl="0">
              <a:lnSpc>
                <a:spcPct val="150000"/>
              </a:lnSpc>
              <a:spcBef>
                <a:spcPts val="400"/>
              </a:spcBef>
              <a:buClr>
                <a:schemeClr val="accent1"/>
              </a:buClr>
              <a:buSzPct val="68000"/>
              <a:defRPr/>
            </a:pPr>
            <a:r>
              <a:rPr lang="en-US" sz="2800" b="1" dirty="0">
                <a:solidFill>
                  <a:srgbClr val="C00000"/>
                </a:solidFill>
              </a:rPr>
              <a:t>Under esteemed guidance of</a:t>
            </a:r>
          </a:p>
          <a:p>
            <a:pPr marR="64135">
              <a:lnSpc>
                <a:spcPct val="150000"/>
              </a:lnSpc>
              <a:spcBef>
                <a:spcPts val="400"/>
              </a:spcBef>
              <a:buClr>
                <a:schemeClr val="accent1"/>
              </a:buClr>
              <a:buSzPct val="68000"/>
              <a:defRPr/>
            </a:pPr>
            <a:r>
              <a:rPr lang="en-US" sz="2400" b="1" dirty="0" smtClean="0"/>
              <a:t>Mr. A. Vivekanand</a:t>
            </a:r>
            <a:endParaRPr lang="en-US" sz="2400" b="1" dirty="0"/>
          </a:p>
          <a:p>
            <a:pPr marR="64135">
              <a:lnSpc>
                <a:spcPct val="150000"/>
              </a:lnSpc>
              <a:spcBef>
                <a:spcPts val="400"/>
              </a:spcBef>
              <a:buClr>
                <a:schemeClr val="accent1"/>
              </a:buClr>
              <a:buSzPct val="68000"/>
              <a:defRPr/>
            </a:pPr>
            <a:r>
              <a:rPr lang="en-US" sz="1600" dirty="0" smtClean="0">
                <a:latin typeface="Times New Roman" panose="02020603050405020304" pitchFamily="18" charset="0"/>
                <a:cs typeface="Times New Roman" panose="02020603050405020304" pitchFamily="18" charset="0"/>
              </a:rPr>
              <a:t>Associate Professor</a:t>
            </a:r>
            <a:endParaRPr lang="en-US" sz="16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83411856"/>
              </p:ext>
            </p:extLst>
          </p:nvPr>
        </p:nvGraphicFramePr>
        <p:xfrm>
          <a:off x="1524000" y="228600"/>
          <a:ext cx="6553200" cy="951198"/>
        </p:xfrm>
        <a:graphic>
          <a:graphicData uri="http://schemas.openxmlformats.org/drawingml/2006/table">
            <a:tbl>
              <a:tblPr>
                <a:tableStyleId>{2D5ABB26-0587-4C30-8999-92F81FD0307C}</a:tableStyleId>
              </a:tblPr>
              <a:tblGrid>
                <a:gridCol w="6553200">
                  <a:extLst>
                    <a:ext uri="{9D8B030D-6E8A-4147-A177-3AD203B41FA5}">
                      <a16:colId xmlns="" xmlns:a16="http://schemas.microsoft.com/office/drawing/2014/main" val="20000"/>
                    </a:ext>
                  </a:extLst>
                </a:gridCol>
              </a:tblGrid>
              <a:tr h="0">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panose="020F0502020204030204"/>
                      </a:endParaRPr>
                    </a:p>
                  </a:txBody>
                  <a:tcPr marL="9199" marR="9199" marT="6133" marB="6133" anchor="b"/>
                </a:tc>
                <a:extLst>
                  <a:ext uri="{0D108BD9-81ED-4DB2-BD59-A6C34878D82A}">
                    <a16:rowId xmlns="" xmlns:a16="http://schemas.microsoft.com/office/drawing/2014/main" val="10000"/>
                  </a:ext>
                </a:extLst>
              </a:tr>
              <a:tr h="0">
                <a:tc>
                  <a:txBody>
                    <a:bodyPr/>
                    <a:lstStyle/>
                    <a:p>
                      <a:pPr algn="ctr" rtl="0" fontAlgn="b"/>
                      <a:r>
                        <a:rPr lang="en-US" sz="2000" dirty="0">
                          <a:solidFill>
                            <a:srgbClr val="002060"/>
                          </a:solidFill>
                        </a:rPr>
                        <a:t>Kandlakoya, Medchal, Hyderabad - 501401</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 xmlns:a16="http://schemas.microsoft.com/office/drawing/2014/main" val="10001"/>
                  </a:ext>
                </a:extLst>
              </a:tr>
              <a:tr h="0">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6" name="TextBox 5"/>
          <p:cNvSpPr txBox="1"/>
          <p:nvPr/>
        </p:nvSpPr>
        <p:spPr>
          <a:xfrm>
            <a:off x="4648200" y="3805341"/>
            <a:ext cx="4495800" cy="923330"/>
          </a:xfrm>
          <a:prstGeom prst="rect">
            <a:avLst/>
          </a:prstGeom>
          <a:noFill/>
        </p:spPr>
        <p:txBody>
          <a:bodyPr wrap="square" rtlCol="0">
            <a:spAutoFit/>
          </a:bodyPr>
          <a:lstStyle/>
          <a:p>
            <a:r>
              <a:rPr lang="en-US" dirty="0" smtClean="0"/>
              <a:t>Vuyyuru Namitha</a:t>
            </a:r>
            <a:r>
              <a:rPr lang="en-US" dirty="0"/>
              <a:t>	</a:t>
            </a:r>
            <a:r>
              <a:rPr lang="en-US" dirty="0" smtClean="0"/>
              <a:t>	(20H51A0580)</a:t>
            </a:r>
            <a:endParaRPr lang="en-US" dirty="0"/>
          </a:p>
          <a:p>
            <a:r>
              <a:rPr lang="en-US" dirty="0" smtClean="0"/>
              <a:t>Akshay Tonde		(20H51A05K0)</a:t>
            </a:r>
            <a:endParaRPr lang="en-US" dirty="0"/>
          </a:p>
          <a:p>
            <a:r>
              <a:rPr lang="en-US" dirty="0" smtClean="0"/>
              <a:t>Jarpula SivaKumar	(20H51A05N8)</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44" name="CustomShape 2"/>
          <p:cNvSpPr/>
          <p:nvPr/>
        </p:nvSpPr>
        <p:spPr>
          <a:xfrm>
            <a:off x="457200" y="457200"/>
            <a:ext cx="8381160" cy="57744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C00000"/>
                </a:solidFill>
                <a:effectLst/>
                <a:uLnTx/>
                <a:uFillTx/>
                <a:latin typeface="Calibri"/>
              </a:rPr>
              <a:t>Outline</a:t>
            </a:r>
            <a:endParaRPr kumimoji="0" sz="1800" b="0" i="0" u="none" strike="noStrike" kern="1200" cap="none" spc="0" normalizeH="0" baseline="0" noProof="0">
              <a:ln>
                <a:noFill/>
              </a:ln>
              <a:solidFill>
                <a:srgbClr val="C00000"/>
              </a:solidFill>
              <a:effectLst/>
              <a:uLnTx/>
              <a:uFillTx/>
              <a:latin typeface="Arial"/>
            </a:endParaRPr>
          </a:p>
        </p:txBody>
      </p:sp>
      <p:sp>
        <p:nvSpPr>
          <p:cNvPr id="45" name="CustomShape 3"/>
          <p:cNvSpPr/>
          <p:nvPr/>
        </p:nvSpPr>
        <p:spPr>
          <a:xfrm>
            <a:off x="914400" y="1639740"/>
            <a:ext cx="6477000" cy="4380060"/>
          </a:xfrm>
          <a:prstGeom prst="rect">
            <a:avLst/>
          </a:prstGeom>
        </p:spPr>
        <p:txBody>
          <a:bodyPr lIns="90000" tIns="45000" rIns="90000" bIns="45000"/>
          <a:lstStyle/>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Abstract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Introduction </a:t>
            </a:r>
          </a:p>
          <a:p>
            <a:pPr marL="0" marR="0" lvl="0" indent="0" algn="l" defTabSz="914400" rtl="0" eaLnBrk="1" fontAlgn="auto" latinLnBrk="0" hangingPunct="1">
              <a:lnSpc>
                <a:spcPct val="150000"/>
              </a:lnSpc>
              <a:spcBef>
                <a:spcPts val="0"/>
              </a:spcBef>
              <a:spcAft>
                <a:spcPts val="0"/>
              </a:spcAft>
              <a:buClrTx/>
              <a:buSzTx/>
              <a:buFont typeface="Arial"/>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Research Objective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Problem Definition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Scope of the Project</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Literature Review</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Implementation of Existing system</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Conclusion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References</a:t>
            </a:r>
            <a:r>
              <a:rPr kumimoji="0" lang="en-IN" sz="2800" b="1" i="0" u="none" strike="noStrike" kern="1200" cap="none" spc="0" normalizeH="0" baseline="0" noProof="0" dirty="0">
                <a:ln>
                  <a:noFill/>
                </a:ln>
                <a:solidFill>
                  <a:srgbClr val="000000"/>
                </a:solidFill>
                <a:effectLst/>
                <a:uLnTx/>
                <a:uFillTx/>
                <a:latin typeface="Calibri"/>
              </a:rPr>
              <a:t>	</a:t>
            </a:r>
            <a:endParaRPr kumimoji="0" sz="1800" b="0" i="0" u="none" strike="noStrike" kern="1200" cap="none" spc="0" normalizeH="0" baseline="0" noProof="0" dirty="0">
              <a:ln>
                <a:noFill/>
              </a:ln>
              <a:solidFill>
                <a:prstClr val="black"/>
              </a:solidFill>
              <a:effectLst/>
              <a:uLnTx/>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495180" y="3771360"/>
            <a:ext cx="8076600" cy="75600"/>
          </a:xfrm>
          <a:prstGeom prst="rect">
            <a:avLst/>
          </a:prstGeom>
          <a:solidFill>
            <a:srgbClr val="7030A0"/>
          </a:solidFill>
          <a:ln w="25560">
            <a:solidFill>
              <a:srgbClr val="3A5F8B"/>
            </a:solidFill>
            <a:round/>
          </a:ln>
        </p:spPr>
        <p:txBody>
          <a:bodyPr/>
          <a:lstStyle/>
          <a:p>
            <a:endParaRPr lang="en-US"/>
          </a:p>
        </p:txBody>
      </p:sp>
      <p:sp>
        <p:nvSpPr>
          <p:cNvPr id="83" name="CustomShape 2"/>
          <p:cNvSpPr/>
          <p:nvPr/>
        </p:nvSpPr>
        <p:spPr>
          <a:xfrm>
            <a:off x="419220" y="304884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pitchFamily="34" charset="0"/>
              </a:rPr>
              <a:t>Abstract </a:t>
            </a:r>
            <a:endParaRPr dirty="0">
              <a:latin typeface="Arial Black" panose="020B0A04020102020204"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381420" y="874711"/>
            <a:ext cx="8381160" cy="75600"/>
          </a:xfrm>
          <a:prstGeom prst="rect">
            <a:avLst/>
          </a:prstGeom>
          <a:solidFill>
            <a:srgbClr val="7030A0"/>
          </a:solidFill>
          <a:ln w="25560">
            <a:solidFill>
              <a:srgbClr val="3A5F8B"/>
            </a:solidFill>
            <a:round/>
          </a:ln>
        </p:spPr>
        <p:txBody>
          <a:bodyPr/>
          <a:lstStyle/>
          <a:p>
            <a:endParaRPr lang="en-US"/>
          </a:p>
        </p:txBody>
      </p:sp>
      <p:sp>
        <p:nvSpPr>
          <p:cNvPr id="5" name="TextBox 4"/>
          <p:cNvSpPr txBox="1"/>
          <p:nvPr/>
        </p:nvSpPr>
        <p:spPr>
          <a:xfrm>
            <a:off x="533400" y="249047"/>
            <a:ext cx="36576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ABSTRACT</a:t>
            </a:r>
          </a:p>
        </p:txBody>
      </p:sp>
      <p:sp>
        <p:nvSpPr>
          <p:cNvPr id="7" name="TextBox 6"/>
          <p:cNvSpPr txBox="1"/>
          <p:nvPr/>
        </p:nvSpPr>
        <p:spPr>
          <a:xfrm>
            <a:off x="304800" y="997236"/>
            <a:ext cx="8634095" cy="5486399"/>
          </a:xfrm>
          <a:prstGeom prst="rect">
            <a:avLst/>
          </a:prstGeom>
          <a:noFill/>
        </p:spPr>
        <p:txBody>
          <a:bodyPr wrap="square" rtlCol="0">
            <a:noAutofit/>
          </a:bodyPr>
          <a:lstStyle/>
          <a:p>
            <a:pPr algn="just">
              <a:lnSpc>
                <a:spcPct val="150000"/>
              </a:lnSpc>
            </a:pPr>
            <a:r>
              <a:rPr lang="en-US" sz="1600" dirty="0"/>
              <a:t>Brain tumors encompass a wide spectrum of growths that can occur within the cranial cavity. These tumors may be benign or malignant, and their early detection is vital for initiating timely medical interventions. MRI, a non-invasive imaging modality, provides detailed anatomical information, making it an invaluable tool for diagnosing and monitoring brain tumors. However, the accurate identification of tumor boundaries from complex MRI data remains a complex and demanding task. The project utilizes a sophisticated image segmentation method to automatically identify and outline tumor regions in MRI scans. The technique is based on the principles of deep learning, a subset of artificial intelligence, which enables computers to learn and recognize patterns from large datasets. This learning process enables the algorithm to distinguish between healthy brain tissue and abnormal tumor growths, aiding medical professionals in making informed decisions. The U-Net architecture's unique design, characterized by a U-shaped structure with contracting and expansive paths, enables it to effectively capture intricate structures and fine-grained details in medical images. Leveraging a diverse dataset of multi-modal brain MRI scans, the U-Net algorithm is trained to automatically segment tumor regions, providing pixel-level precision.</a:t>
            </a:r>
            <a:endParaRPr lang="en-US"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I</a:t>
            </a:r>
            <a:r>
              <a:rPr lang="en-IN" sz="3200" b="1" dirty="0">
                <a:solidFill>
                  <a:srgbClr val="000000"/>
                </a:solidFill>
                <a:latin typeface="Arial Black" panose="020B0A04020102020204"/>
              </a:rPr>
              <a:t>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Introduction</a:t>
            </a:r>
            <a:endParaRPr>
              <a:solidFill>
                <a:srgbClr val="C00000"/>
              </a:solidFill>
            </a:endParaRPr>
          </a:p>
        </p:txBody>
      </p:sp>
      <p:sp>
        <p:nvSpPr>
          <p:cNvPr id="3" name="TextBox 2"/>
          <p:cNvSpPr txBox="1"/>
          <p:nvPr/>
        </p:nvSpPr>
        <p:spPr>
          <a:xfrm>
            <a:off x="609600" y="1730110"/>
            <a:ext cx="7924800"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U-Net is a specialized deep learning architecture designed for precise segmentation tasks in medical imaging.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particularly effective in detecting brain tumors from MRI scans.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U-Net model employs a unique U-shaped structure: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Encoding path to extract features.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Decoding path to restore spatial details.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incorporates skip connections to maintain fine-grained information critical for accurate tumor segmentation.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trained on annotated MRI images, U-Net can provide: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pixel-level classifications of tumor and non-tumor regions.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Proving highly valuable in medical diagnostics.</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Research Objective</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03962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Research Objective </a:t>
            </a:r>
            <a:endParaRPr dirty="0">
              <a:solidFill>
                <a:srgbClr val="C00000"/>
              </a:solidFill>
            </a:endParaRPr>
          </a:p>
        </p:txBody>
      </p:sp>
      <p:sp>
        <p:nvSpPr>
          <p:cNvPr id="3" name="TextBox 2">
            <a:extLst>
              <a:ext uri="{FF2B5EF4-FFF2-40B4-BE49-F238E27FC236}">
                <a16:creationId xmlns="" xmlns:a16="http://schemas.microsoft.com/office/drawing/2014/main" id="{02FDD73C-BD87-B673-12F8-F9DF13023DC2}"/>
              </a:ext>
            </a:extLst>
          </p:cNvPr>
          <p:cNvSpPr txBox="1"/>
          <p:nvPr/>
        </p:nvSpPr>
        <p:spPr>
          <a:xfrm>
            <a:off x="685800" y="1828800"/>
            <a:ext cx="7924800"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Explore the effectiveness and efficiency of U-Net convolutional neural network architecture in accurately segmenting brain tumors from MRI images, aiming to improve the precision and speed of medical diagnoses in </a:t>
            </a:r>
            <a:r>
              <a:rPr lang="en-US" sz="2000" dirty="0" smtClean="0">
                <a:latin typeface="Times New Roman" panose="02020603050405020304" pitchFamily="18" charset="0"/>
                <a:cs typeface="Times New Roman" panose="02020603050405020304" pitchFamily="18" charset="0"/>
              </a:rPr>
              <a:t>neuroimaging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5" name="Picture 2" descr="U-Net: Convolutional Networks for Biomedical Image Segmentation">
            <a:extLst>
              <a:ext uri="{FF2B5EF4-FFF2-40B4-BE49-F238E27FC236}">
                <a16:creationId xmlns:a16="http://schemas.microsoft.com/office/drawing/2014/main" xmlns="" id="{F237E8B8-4DF5-2E84-8908-ADBE41E201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1280" y="3438650"/>
            <a:ext cx="4953000" cy="257649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xmlns="" id="{EBCDC937-3A0D-4E5F-34EC-E92108B5130C}"/>
              </a:ext>
            </a:extLst>
          </p:cNvPr>
          <p:cNvCxnSpPr>
            <a:cxnSpLocks/>
          </p:cNvCxnSpPr>
          <p:nvPr/>
        </p:nvCxnSpPr>
        <p:spPr>
          <a:xfrm>
            <a:off x="1600200" y="4041618"/>
            <a:ext cx="1714500" cy="213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xmlns="" id="{4482E50B-D5EB-6410-61AC-3F9E16AEE0F1}"/>
              </a:ext>
            </a:extLst>
          </p:cNvPr>
          <p:cNvCxnSpPr/>
          <p:nvPr/>
        </p:nvCxnSpPr>
        <p:spPr>
          <a:xfrm flipV="1">
            <a:off x="5371680" y="4041618"/>
            <a:ext cx="1752600" cy="213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35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Problem Definition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37264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Problem Definition</a:t>
            </a:r>
            <a:endParaRPr dirty="0">
              <a:solidFill>
                <a:srgbClr val="C00000"/>
              </a:solidFill>
            </a:endParaRPr>
          </a:p>
        </p:txBody>
      </p:sp>
      <p:sp>
        <p:nvSpPr>
          <p:cNvPr id="3" name="TextBox 2"/>
          <p:cNvSpPr txBox="1"/>
          <p:nvPr/>
        </p:nvSpPr>
        <p:spPr>
          <a:xfrm>
            <a:off x="609600" y="1524000"/>
            <a:ext cx="7924800" cy="5047536"/>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problem at hand is the accurate and efficient detection of brain tumors from Magnetic Resonance Imaging (MRI) scans.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Traditional manual segmentation methods: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 Are time-consuming.</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 Are labor-intensive.</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 Are prone to human error.</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U-Net algorithm aims to address this challenge:</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It employs a specialized convolutional neural network architecture.</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 It automates the segmentation process.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This technology seeks to provide clinicians with:</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A robust tool for precise tumor localization.</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Enabling more effective treatment planning for patients with brain tumors</a:t>
            </a:r>
            <a:r>
              <a:rPr lang="en-US" sz="2300" dirty="0" smtClean="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p:txBody>
      </p:sp>
      <p:pic>
        <p:nvPicPr>
          <p:cNvPr id="5" name="Picture 6" descr="Diagnostics | Free Full-Text | U-Net-Based Models towards Optimal MR Brain  Image Segmentation">
            <a:extLst>
              <a:ext uri="{FF2B5EF4-FFF2-40B4-BE49-F238E27FC236}">
                <a16:creationId xmlns:a16="http://schemas.microsoft.com/office/drawing/2014/main" xmlns="" id="{ECE6DBCB-85CF-A608-826E-38B47A6894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2286000"/>
            <a:ext cx="1844665" cy="14044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rain image segmentation using machine learning for Sale,Up To OFF 63%">
            <a:extLst>
              <a:ext uri="{FF2B5EF4-FFF2-40B4-BE49-F238E27FC236}">
                <a16:creationId xmlns:a16="http://schemas.microsoft.com/office/drawing/2014/main" xmlns="" id="{4EFB74B6-30BC-4A55-8436-300380A37A0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09278" y="4953000"/>
            <a:ext cx="1112387" cy="468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22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Scope of the project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1616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Scope of the project </a:t>
            </a:r>
            <a:endParaRPr dirty="0">
              <a:solidFill>
                <a:srgbClr val="C00000"/>
              </a:solidFill>
            </a:endParaRPr>
          </a:p>
        </p:txBody>
      </p:sp>
      <p:sp>
        <p:nvSpPr>
          <p:cNvPr id="3" name="TextBox 2"/>
          <p:cNvSpPr txBox="1"/>
          <p:nvPr/>
        </p:nvSpPr>
        <p:spPr>
          <a:xfrm>
            <a:off x="609600" y="1447800"/>
            <a:ext cx="7924800" cy="5078313"/>
          </a:xfrm>
          <a:prstGeom prst="rect">
            <a:avLst/>
          </a:prstGeom>
          <a:noFill/>
        </p:spPr>
        <p:txBody>
          <a:bodyPr wrap="square" rtlCol="0">
            <a:spAutoFit/>
          </a:bodyPr>
          <a:lstStyle/>
          <a:p>
            <a:pPr marL="342900" indent="-342900" algn="just">
              <a:buFont typeface="Arial" panose="020B0604020202020204" pitchFamily="34" charset="0"/>
              <a:buChar char="•"/>
            </a:pPr>
            <a:r>
              <a:rPr lang="en-US" dirty="0"/>
              <a:t>Objective: The project aims to develop an automatic brain </a:t>
            </a:r>
            <a:r>
              <a:rPr lang="en-US" dirty="0" smtClean="0"/>
              <a:t>tumor </a:t>
            </a:r>
            <a:r>
              <a:rPr lang="en-US" dirty="0"/>
              <a:t>segmentation system using the U-Net deep learning architecture applied to multi-modal MRI scans. This system will assist in the accurate identification and outlining of </a:t>
            </a:r>
            <a:r>
              <a:rPr lang="en-US" dirty="0" smtClean="0"/>
              <a:t>tumor </a:t>
            </a:r>
            <a:r>
              <a:rPr lang="en-US" dirty="0"/>
              <a:t>regions within the cranial cavity. </a:t>
            </a:r>
            <a:endParaRPr lang="en-US" dirty="0" smtClean="0"/>
          </a:p>
          <a:p>
            <a:pPr algn="just"/>
            <a:endParaRPr lang="en-US" dirty="0" smtClean="0"/>
          </a:p>
          <a:p>
            <a:pPr marL="342900" indent="-342900" algn="just">
              <a:buFont typeface="Arial" panose="020B0604020202020204" pitchFamily="34" charset="0"/>
              <a:buChar char="•"/>
            </a:pPr>
            <a:r>
              <a:rPr lang="en-US" dirty="0" smtClean="0"/>
              <a:t>Medical </a:t>
            </a:r>
            <a:r>
              <a:rPr lang="en-US" dirty="0"/>
              <a:t>Imaging Focus: The project focuses on the use of MRI scans as the primary source of medical imaging data. It intends to enhance the precision of brain </a:t>
            </a:r>
            <a:r>
              <a:rPr lang="en-US" dirty="0" smtClean="0"/>
              <a:t>tumor </a:t>
            </a:r>
            <a:r>
              <a:rPr lang="en-US" dirty="0"/>
              <a:t>segmentation within these </a:t>
            </a:r>
            <a:r>
              <a:rPr lang="en-US" dirty="0" smtClean="0"/>
              <a:t>scans.</a:t>
            </a:r>
          </a:p>
          <a:p>
            <a:pPr algn="just"/>
            <a:endParaRPr lang="en-US" dirty="0" smtClean="0"/>
          </a:p>
          <a:p>
            <a:pPr marL="342900" indent="-342900" algn="just">
              <a:buFont typeface="Arial" panose="020B0604020202020204" pitchFamily="34" charset="0"/>
              <a:buChar char="•"/>
            </a:pPr>
            <a:r>
              <a:rPr lang="en-US" dirty="0" smtClean="0"/>
              <a:t>Deep </a:t>
            </a:r>
            <a:r>
              <a:rPr lang="en-US" dirty="0"/>
              <a:t>Learning and U-Net: The project utilizes deep learning techniques, particularly the U-Net architecture, to automatically detect and outline </a:t>
            </a:r>
            <a:r>
              <a:rPr lang="en-US" dirty="0" smtClean="0"/>
              <a:t>tumor </a:t>
            </a:r>
            <a:r>
              <a:rPr lang="en-US" dirty="0"/>
              <a:t>regions. U-Net's unique design is leveraged for its ability to capture intricate structures and fine-grained details in medical images. </a:t>
            </a:r>
            <a:endParaRPr lang="en-US" dirty="0" smtClean="0"/>
          </a:p>
          <a:p>
            <a:pPr algn="just"/>
            <a:endParaRPr lang="en-US" dirty="0"/>
          </a:p>
          <a:p>
            <a:pPr marL="342900" indent="-342900" algn="just">
              <a:buFont typeface="Arial" panose="020B0604020202020204" pitchFamily="34" charset="0"/>
              <a:buChar char="•"/>
            </a:pPr>
            <a:r>
              <a:rPr lang="en-US" dirty="0" smtClean="0"/>
              <a:t>Dataset </a:t>
            </a:r>
            <a:r>
              <a:rPr lang="en-US" dirty="0"/>
              <a:t>Utilization: The project involves the use of a diverse dataset of multi-modal brain MRI scans for training the U-Net algorithm. The dataset is essential for enabling the algorithm to distinguish between healthy brain tissue and abnormal </a:t>
            </a:r>
            <a:r>
              <a:rPr lang="en-US" dirty="0" smtClean="0"/>
              <a:t>tumor </a:t>
            </a:r>
            <a:r>
              <a:rPr lang="en-US" dirty="0"/>
              <a:t>growths effectively.</a:t>
            </a:r>
            <a:endParaRPr lang="en-US" dirty="0">
              <a:latin typeface="Times New Roman" panose="02020603050405020304" pitchFamily="18" charset="0"/>
            </a:endParaRPr>
          </a:p>
        </p:txBody>
      </p:sp>
    </p:spTree>
    <p:extLst>
      <p:ext uri="{BB962C8B-B14F-4D97-AF65-F5344CB8AC3E}">
        <p14:creationId xmlns:p14="http://schemas.microsoft.com/office/powerpoint/2010/main" val="405713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3200" b="1" dirty="0">
                <a:solidFill>
                  <a:srgbClr val="000000"/>
                </a:solidFill>
                <a:latin typeface="Bookman Old Style" pitchFamily="18" charset="0"/>
              </a:rPr>
              <a:t>Literature Review</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50825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D4AEFB-457F-601E-D3C6-1328A87DA876}"/>
              </a:ext>
            </a:extLst>
          </p:cNvPr>
          <p:cNvSpPr>
            <a:spLocks noGrp="1"/>
          </p:cNvSpPr>
          <p:nvPr>
            <p:ph type="title"/>
          </p:nvPr>
        </p:nvSpPr>
        <p:spPr/>
        <p:txBody>
          <a:bodyPr/>
          <a:lstStyle/>
          <a:p>
            <a:endParaRPr lang="en-US"/>
          </a:p>
        </p:txBody>
      </p:sp>
      <p:sp>
        <p:nvSpPr>
          <p:cNvPr id="3" name="Text Placeholder 2">
            <a:extLst>
              <a:ext uri="{FF2B5EF4-FFF2-40B4-BE49-F238E27FC236}">
                <a16:creationId xmlns="" xmlns:a16="http://schemas.microsoft.com/office/drawing/2014/main" id="{7D387DA9-FA13-8515-C062-6C4AC0FCD0EE}"/>
              </a:ext>
            </a:extLst>
          </p:cNvPr>
          <p:cNvSpPr>
            <a:spLocks noGrp="1"/>
          </p:cNvSpPr>
          <p:nvPr>
            <p:ph type="body"/>
          </p:nvPr>
        </p:nvSpPr>
        <p:spPr/>
        <p:txBody>
          <a:bodyPr/>
          <a:lstStyle/>
          <a:p>
            <a:endParaRPr lang="en-US" dirty="0"/>
          </a:p>
        </p:txBody>
      </p:sp>
      <p:sp>
        <p:nvSpPr>
          <p:cNvPr id="4" name="TextBox 3">
            <a:extLst>
              <a:ext uri="{FF2B5EF4-FFF2-40B4-BE49-F238E27FC236}">
                <a16:creationId xmlns="" xmlns:a16="http://schemas.microsoft.com/office/drawing/2014/main" id="{CD5C885B-EBE6-F155-BDE5-1E11DF1C0898}"/>
              </a:ext>
            </a:extLst>
          </p:cNvPr>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2">
            <a:extLst>
              <a:ext uri="{FF2B5EF4-FFF2-40B4-BE49-F238E27FC236}">
                <a16:creationId xmlns="" xmlns:a16="http://schemas.microsoft.com/office/drawing/2014/main" id="{FA5766E6-314F-CEE2-3849-41F4CB62EBA9}"/>
              </a:ext>
            </a:extLst>
          </p:cNvPr>
          <p:cNvGraphicFramePr>
            <a:graphicFrameLocks noGrp="1"/>
          </p:cNvGraphicFramePr>
          <p:nvPr>
            <p:extLst>
              <p:ext uri="{D42A27DB-BD31-4B8C-83A1-F6EECF244321}">
                <p14:modId xmlns:p14="http://schemas.microsoft.com/office/powerpoint/2010/main" val="2200733042"/>
              </p:ext>
            </p:extLst>
          </p:nvPr>
        </p:nvGraphicFramePr>
        <p:xfrm>
          <a:off x="228600" y="450779"/>
          <a:ext cx="8517837" cy="6248400"/>
        </p:xfrm>
        <a:graphic>
          <a:graphicData uri="http://schemas.openxmlformats.org/drawingml/2006/table">
            <a:tbl>
              <a:tblPr firstRow="1" bandRow="1">
                <a:tableStyleId>{5C22544A-7EE6-4342-B048-85BDC9FD1C3A}</a:tableStyleId>
              </a:tblPr>
              <a:tblGrid>
                <a:gridCol w="514973">
                  <a:extLst>
                    <a:ext uri="{9D8B030D-6E8A-4147-A177-3AD203B41FA5}">
                      <a16:colId xmlns="" xmlns:a16="http://schemas.microsoft.com/office/drawing/2014/main" val="432745929"/>
                    </a:ext>
                  </a:extLst>
                </a:gridCol>
                <a:gridCol w="1103904">
                  <a:extLst>
                    <a:ext uri="{9D8B030D-6E8A-4147-A177-3AD203B41FA5}">
                      <a16:colId xmlns="" xmlns:a16="http://schemas.microsoft.com/office/drawing/2014/main" val="1998233565"/>
                    </a:ext>
                  </a:extLst>
                </a:gridCol>
                <a:gridCol w="1124323">
                  <a:extLst>
                    <a:ext uri="{9D8B030D-6E8A-4147-A177-3AD203B41FA5}">
                      <a16:colId xmlns="" xmlns:a16="http://schemas.microsoft.com/office/drawing/2014/main" val="3760181125"/>
                    </a:ext>
                  </a:extLst>
                </a:gridCol>
                <a:gridCol w="1731607">
                  <a:extLst>
                    <a:ext uri="{9D8B030D-6E8A-4147-A177-3AD203B41FA5}">
                      <a16:colId xmlns="" xmlns:a16="http://schemas.microsoft.com/office/drawing/2014/main" val="1470764825"/>
                    </a:ext>
                  </a:extLst>
                </a:gridCol>
                <a:gridCol w="1874384">
                  <a:extLst>
                    <a:ext uri="{9D8B030D-6E8A-4147-A177-3AD203B41FA5}">
                      <a16:colId xmlns="" xmlns:a16="http://schemas.microsoft.com/office/drawing/2014/main" val="3423994347"/>
                    </a:ext>
                  </a:extLst>
                </a:gridCol>
                <a:gridCol w="2168646">
                  <a:extLst>
                    <a:ext uri="{9D8B030D-6E8A-4147-A177-3AD203B41FA5}">
                      <a16:colId xmlns="" xmlns:a16="http://schemas.microsoft.com/office/drawing/2014/main" val="635663868"/>
                    </a:ext>
                  </a:extLst>
                </a:gridCol>
              </a:tblGrid>
              <a:tr h="734228">
                <a:tc>
                  <a:txBody>
                    <a:bodyPr/>
                    <a:lstStyle/>
                    <a:p>
                      <a:r>
                        <a:rPr lang="en-US" sz="1200" dirty="0">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74428592"/>
                  </a:ext>
                </a:extLst>
              </a:tr>
              <a:tr h="2121102">
                <a:tc>
                  <a:txBody>
                    <a:bodyPr/>
                    <a:lstStyle/>
                    <a:p>
                      <a:r>
                        <a:rPr lang="en-US" dirty="0"/>
                        <a:t>1</a:t>
                      </a:r>
                      <a:endParaRPr lang="en-IN" dirty="0"/>
                    </a:p>
                  </a:txBody>
                  <a:tcPr/>
                </a:tc>
                <a:tc>
                  <a:txBody>
                    <a:bodyPr/>
                    <a:lstStyle/>
                    <a:p>
                      <a:r>
                        <a:rPr lang="en-IN" sz="1000" u="none" strike="noStrike" dirty="0" smtClean="0">
                          <a:solidFill>
                            <a:schemeClr val="dk1"/>
                          </a:solidFill>
                          <a:effectLst/>
                          <a:latin typeface="+mn-lt"/>
                          <a:ea typeface="+mn-ea"/>
                          <a:cs typeface="+mn-cs"/>
                        </a:rPr>
                        <a:t>Muhammad Zawish</a:t>
                      </a:r>
                      <a:r>
                        <a:rPr lang="en-IN" sz="1000" u="none" dirty="0" smtClean="0">
                          <a:effectLst/>
                        </a:rPr>
                        <a:t>; </a:t>
                      </a:r>
                      <a:r>
                        <a:rPr lang="en-IN" sz="1000" u="none" strike="noStrike" dirty="0" smtClean="0">
                          <a:solidFill>
                            <a:schemeClr val="dk1"/>
                          </a:solidFill>
                          <a:effectLst/>
                          <a:latin typeface="+mn-lt"/>
                          <a:ea typeface="+mn-ea"/>
                          <a:cs typeface="+mn-cs"/>
                        </a:rPr>
                        <a:t>Asad Ali Siyal</a:t>
                      </a:r>
                      <a:r>
                        <a:rPr lang="en-IN" sz="1000" u="none" dirty="0" smtClean="0">
                          <a:effectLst/>
                        </a:rPr>
                        <a:t>; </a:t>
                      </a:r>
                      <a:r>
                        <a:rPr lang="en-IN" sz="1000" u="none" strike="noStrike" dirty="0" smtClean="0">
                          <a:solidFill>
                            <a:schemeClr val="dk1"/>
                          </a:solidFill>
                          <a:effectLst/>
                          <a:latin typeface="+mn-lt"/>
                          <a:ea typeface="+mn-ea"/>
                          <a:cs typeface="+mn-cs"/>
                        </a:rPr>
                        <a:t>Kainat Ahmed</a:t>
                      </a:r>
                      <a:r>
                        <a:rPr lang="en-IN" sz="1000" u="none" dirty="0" smtClean="0">
                          <a:effectLst/>
                        </a:rPr>
                        <a:t>; </a:t>
                      </a:r>
                      <a:r>
                        <a:rPr lang="en-IN" sz="1000" u="none" strike="noStrike" dirty="0" smtClean="0">
                          <a:solidFill>
                            <a:schemeClr val="dk1"/>
                          </a:solidFill>
                          <a:effectLst/>
                          <a:latin typeface="+mn-lt"/>
                          <a:ea typeface="+mn-ea"/>
                          <a:cs typeface="+mn-cs"/>
                        </a:rPr>
                        <a:t>Aiman Khalil</a:t>
                      </a:r>
                      <a:r>
                        <a:rPr lang="en-IN" sz="1000" u="none" dirty="0" smtClean="0">
                          <a:effectLst/>
                        </a:rPr>
                        <a:t>; </a:t>
                      </a:r>
                      <a:r>
                        <a:rPr lang="en-IN" sz="1000" u="none" strike="noStrike" dirty="0" smtClean="0">
                          <a:solidFill>
                            <a:schemeClr val="dk1"/>
                          </a:solidFill>
                          <a:effectLst/>
                          <a:latin typeface="+mn-lt"/>
                          <a:ea typeface="+mn-ea"/>
                          <a:cs typeface="+mn-cs"/>
                        </a:rPr>
                        <a:t>Sheeraz Memon</a:t>
                      </a:r>
                      <a:endParaRPr lang="en-IN" sz="1000" u="none" dirty="0" smtClean="0">
                        <a:effectLst/>
                      </a:endParaRPr>
                    </a:p>
                    <a:p>
                      <a:r>
                        <a:rPr lang="en-IN" sz="1000" b="0" i="0" u="none" strike="noStrike" dirty="0" smtClean="0">
                          <a:solidFill>
                            <a:schemeClr val="dk1"/>
                          </a:solidFill>
                          <a:effectLst/>
                          <a:latin typeface="+mn-lt"/>
                          <a:ea typeface="+mn-ea"/>
                          <a:cs typeface="+mn-cs"/>
                        </a:rPr>
                        <a:t>2018 International Conference on Computing, Electronic and Electrical Engineering (ICE Cube)</a:t>
                      </a:r>
                      <a:endParaRPr lang="en-IN" sz="1000" b="0" i="0" u="none" dirty="0" smtClean="0">
                        <a:solidFill>
                          <a:schemeClr val="dk1"/>
                        </a:solidFill>
                        <a:effectLst/>
                        <a:latin typeface="+mn-lt"/>
                        <a:ea typeface="+mn-ea"/>
                        <a:cs typeface="+mn-cs"/>
                      </a:endParaRPr>
                    </a:p>
                  </a:txBody>
                  <a:tcPr/>
                </a:tc>
                <a:tc>
                  <a:txBody>
                    <a:bodyPr/>
                    <a:lstStyle/>
                    <a:p>
                      <a:r>
                        <a:rPr lang="en-US" sz="1000" dirty="0" smtClean="0"/>
                        <a:t>Biomedical imaging has advanced, yet tumor segmentation remains a challenge due to tissue overlap. Accurate segmentation is vital for tumor treatment.</a:t>
                      </a:r>
                      <a:endParaRPr lang="en-IN" sz="1000" dirty="0"/>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Brain Tumor Segmentation in MRI images using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Chan</a:t>
                      </a:r>
                      <a:r>
                        <a:rPr lang="en-US" sz="1200" b="0" i="0" baseline="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Vese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Technique in MATLAB</a:t>
                      </a:r>
                      <a:endParaRPr lang="en-US"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Novel tumor segmentation method using total variation and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Chan</a:t>
                      </a:r>
                      <a:r>
                        <a:rPr lang="en-US" sz="1200" b="0" i="0" baseline="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Vese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contours for precise brain MRI tumor delineation, benefiting healthcare and research.</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Tumor segmentation is a critical issue in medical imaging. The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Chan</a:t>
                      </a:r>
                      <a:r>
                        <a:rPr lang="en-US" sz="1200" b="0" i="0" baseline="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Vese </a:t>
                      </a:r>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active contour method, with its dual forces, effectively addresses this challenge. Extensive testing confirms its applicability to various medical imaging modalities, promising broader biomedical research applications.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97843794"/>
                  </a:ext>
                </a:extLst>
              </a:tr>
              <a:tr h="1759021">
                <a:tc>
                  <a:txBody>
                    <a:bodyPr/>
                    <a:lstStyle/>
                    <a:p>
                      <a:r>
                        <a:rPr lang="en-US" dirty="0"/>
                        <a:t>2</a:t>
                      </a:r>
                      <a:endParaRPr lang="en-IN" dirty="0"/>
                    </a:p>
                  </a:txBody>
                  <a:tcPr/>
                </a:tc>
                <a:tc>
                  <a:txBody>
                    <a:bodyPr/>
                    <a:lstStyle/>
                    <a:p>
                      <a:r>
                        <a:rPr lang="en-IN" sz="1000" u="none" strike="noStrike" dirty="0" smtClean="0">
                          <a:solidFill>
                            <a:schemeClr val="dk1"/>
                          </a:solidFill>
                          <a:effectLst/>
                          <a:latin typeface="+mn-lt"/>
                          <a:ea typeface="+mn-ea"/>
                          <a:cs typeface="+mn-cs"/>
                        </a:rPr>
                        <a:t>Kapil Kumar Gupta</a:t>
                      </a:r>
                      <a:r>
                        <a:rPr lang="en-IN" sz="1000" dirty="0" smtClean="0">
                          <a:effectLst/>
                        </a:rPr>
                        <a:t>;</a:t>
                      </a:r>
                      <a:r>
                        <a:rPr lang="en-IN" sz="1000" u="none" strike="noStrike" dirty="0" smtClean="0">
                          <a:solidFill>
                            <a:schemeClr val="dk1"/>
                          </a:solidFill>
                          <a:effectLst/>
                          <a:latin typeface="+mn-lt"/>
                          <a:ea typeface="+mn-ea"/>
                          <a:cs typeface="+mn-cs"/>
                        </a:rPr>
                        <a:t>Namrata Dhanda</a:t>
                      </a:r>
                      <a:r>
                        <a:rPr lang="en-IN" sz="1000" dirty="0" smtClean="0">
                          <a:effectLst/>
                        </a:rPr>
                        <a:t>;</a:t>
                      </a:r>
                      <a:r>
                        <a:rPr lang="en-IN" sz="1000" u="none" strike="noStrike" dirty="0" smtClean="0">
                          <a:solidFill>
                            <a:schemeClr val="dk1"/>
                          </a:solidFill>
                          <a:effectLst/>
                          <a:latin typeface="+mn-lt"/>
                          <a:ea typeface="+mn-ea"/>
                          <a:cs typeface="+mn-cs"/>
                        </a:rPr>
                        <a:t>Upendra Kumar</a:t>
                      </a:r>
                      <a:endParaRPr lang="en-IN" sz="1000" dirty="0" smtClean="0">
                        <a:effectLst/>
                      </a:endParaRPr>
                    </a:p>
                    <a:p>
                      <a:r>
                        <a:rPr lang="en-IN" sz="1000" b="0" i="0" u="none" strike="noStrike" dirty="0" smtClean="0">
                          <a:solidFill>
                            <a:schemeClr val="dk1"/>
                          </a:solidFill>
                          <a:effectLst/>
                          <a:latin typeface="+mn-lt"/>
                          <a:ea typeface="+mn-ea"/>
                          <a:cs typeface="+mn-cs"/>
                        </a:rPr>
                        <a:t>2018 4th International Conference on Computing Communication and Automation (ICCCA)</a:t>
                      </a:r>
                      <a:endParaRPr lang="en-IN" sz="1000" b="0" i="0" dirty="0" smtClean="0">
                        <a:solidFill>
                          <a:schemeClr val="dk1"/>
                        </a:solidFill>
                        <a:effectLst/>
                        <a:latin typeface="+mn-lt"/>
                        <a:ea typeface="+mn-ea"/>
                        <a:cs typeface="+mn-cs"/>
                      </a:endParaRPr>
                    </a:p>
                  </a:txBody>
                  <a:tcPr/>
                </a:tc>
                <a:tc>
                  <a:txBody>
                    <a:bodyPr/>
                    <a:lstStyle/>
                    <a:p>
                      <a:r>
                        <a:rPr lang="en-US" sz="1000" b="0" i="0" smtClean="0">
                          <a:solidFill>
                            <a:schemeClr val="dk1"/>
                          </a:solidFill>
                          <a:effectLst/>
                          <a:latin typeface="+mn-lt"/>
                          <a:ea typeface="+mn-ea"/>
                          <a:cs typeface="+mn-cs"/>
                        </a:rPr>
                        <a:t>Accurate CT and MR image segmentation for tumor detection is crucial but challenging in medical imaging.</a:t>
                      </a:r>
                      <a:endParaRPr lang="en-IN" sz="1000" dirty="0"/>
                    </a:p>
                  </a:txBody>
                  <a:tcPr/>
                </a:tc>
                <a:tc>
                  <a:txBody>
                    <a:bodyPr/>
                    <a:lstStyle/>
                    <a:p>
                      <a:r>
                        <a:rPr lang="en-US" sz="1200" b="0" i="0" u="none" strike="noStrike" dirty="0" smtClean="0">
                          <a:solidFill>
                            <a:schemeClr val="dk1"/>
                          </a:solidFill>
                          <a:effectLst/>
                          <a:latin typeface="Times New Roman" panose="02020603050405020304" pitchFamily="18" charset="0"/>
                          <a:ea typeface="+mn-ea"/>
                          <a:cs typeface="Times New Roman" panose="02020603050405020304" pitchFamily="18" charset="0"/>
                        </a:rPr>
                        <a:t>A Comparative Study of Medical Image Segmentation Techniques for Brain Tumor Detection</a:t>
                      </a:r>
                      <a:endParaRPr lang="en-US"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Researchers review and compare segmentation techniques, considering factors like segmentation time, accuracy, and sensitivity.</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Accurate segmentation enhances medical diagnosis and treatment through non-invasive techniques like Ultrasound, MRI, and CT-Scan.</a:t>
                      </a:r>
                    </a:p>
                    <a:p>
                      <a:endParaRPr lang="en-IN" sz="1000" dirty="0"/>
                    </a:p>
                  </a:txBody>
                  <a:tcPr/>
                </a:tc>
                <a:extLst>
                  <a:ext uri="{0D108BD9-81ED-4DB2-BD59-A6C34878D82A}">
                    <a16:rowId xmlns="" xmlns:a16="http://schemas.microsoft.com/office/drawing/2014/main" val="3396774005"/>
                  </a:ext>
                </a:extLst>
              </a:tr>
              <a:tr h="1305294">
                <a:tc>
                  <a:txBody>
                    <a:bodyPr/>
                    <a:lstStyle/>
                    <a:p>
                      <a:r>
                        <a:rPr lang="en-US" dirty="0"/>
                        <a:t>3</a:t>
                      </a:r>
                      <a:endParaRPr lang="en-IN" dirty="0"/>
                    </a:p>
                  </a:txBody>
                  <a:tcPr/>
                </a:tc>
                <a:tc>
                  <a:txBody>
                    <a:bodyPr/>
                    <a:lstStyle/>
                    <a:p>
                      <a:r>
                        <a:rPr lang="en-IN" sz="1000" u="none" strike="noStrike" dirty="0" smtClean="0">
                          <a:solidFill>
                            <a:schemeClr val="dk1"/>
                          </a:solidFill>
                          <a:effectLst/>
                          <a:latin typeface="+mn-lt"/>
                          <a:ea typeface="+mn-ea"/>
                          <a:cs typeface="+mn-cs"/>
                        </a:rPr>
                        <a:t>Chuanlu Lin</a:t>
                      </a:r>
                      <a:r>
                        <a:rPr lang="en-IN" sz="1000" dirty="0" smtClean="0">
                          <a:effectLst/>
                        </a:rPr>
                        <a:t>;</a:t>
                      </a:r>
                      <a:r>
                        <a:rPr lang="en-IN" sz="1000" u="none" strike="noStrike" dirty="0" smtClean="0">
                          <a:solidFill>
                            <a:schemeClr val="dk1"/>
                          </a:solidFill>
                          <a:effectLst/>
                          <a:latin typeface="+mn-lt"/>
                          <a:ea typeface="+mn-ea"/>
                          <a:cs typeface="+mn-cs"/>
                        </a:rPr>
                        <a:t>Yi Wang</a:t>
                      </a:r>
                      <a:r>
                        <a:rPr lang="en-IN" sz="1000" dirty="0" smtClean="0">
                          <a:effectLst/>
                        </a:rPr>
                        <a:t>;</a:t>
                      </a:r>
                      <a:r>
                        <a:rPr lang="en-IN" sz="1000" u="none" strike="noStrike" dirty="0" smtClean="0">
                          <a:solidFill>
                            <a:schemeClr val="dk1"/>
                          </a:solidFill>
                          <a:effectLst/>
                          <a:latin typeface="+mn-lt"/>
                          <a:ea typeface="+mn-ea"/>
                          <a:cs typeface="+mn-cs"/>
                        </a:rPr>
                        <a:t>Tianfu Wang</a:t>
                      </a:r>
                      <a:r>
                        <a:rPr lang="en-IN" sz="1000" dirty="0" smtClean="0">
                          <a:effectLst/>
                        </a:rPr>
                        <a:t>;</a:t>
                      </a:r>
                      <a:r>
                        <a:rPr lang="en-IN" sz="1000" u="none" strike="noStrike" dirty="0" smtClean="0">
                          <a:solidFill>
                            <a:schemeClr val="dk1"/>
                          </a:solidFill>
                          <a:effectLst/>
                          <a:latin typeface="+mn-lt"/>
                          <a:ea typeface="+mn-ea"/>
                          <a:cs typeface="+mn-cs"/>
                        </a:rPr>
                        <a:t>Dong Ni</a:t>
                      </a:r>
                      <a:endParaRPr lang="en-IN" sz="1000" dirty="0" smtClean="0">
                        <a:effectLst/>
                      </a:endParaRPr>
                    </a:p>
                    <a:p>
                      <a:r>
                        <a:rPr lang="en-IN" sz="1000" b="0" i="0" u="none" strike="noStrike" dirty="0" smtClean="0">
                          <a:solidFill>
                            <a:schemeClr val="dk1"/>
                          </a:solidFill>
                          <a:effectLst/>
                          <a:latin typeface="+mn-lt"/>
                          <a:ea typeface="+mn-ea"/>
                          <a:cs typeface="+mn-cs"/>
                        </a:rPr>
                        <a:t>2019 IEEE 16th International Symposium on Biomedical Imaging (ISBI 2019)</a:t>
                      </a:r>
                      <a:endParaRPr lang="en-IN" sz="1000" b="0" i="0" dirty="0">
                        <a:solidFill>
                          <a:schemeClr val="dk1"/>
                        </a:solidFill>
                        <a:effectLst/>
                        <a:latin typeface="+mn-lt"/>
                        <a:ea typeface="+mn-ea"/>
                        <a:cs typeface="+mn-cs"/>
                      </a:endParaRPr>
                    </a:p>
                  </a:txBody>
                  <a:tcPr/>
                </a:tc>
                <a:tc>
                  <a:txBody>
                    <a:bodyPr/>
                    <a:lstStyle/>
                    <a:p>
                      <a:r>
                        <a:rPr lang="en-US" sz="1100" b="0" i="0" dirty="0" smtClean="0">
                          <a:solidFill>
                            <a:schemeClr val="dk1"/>
                          </a:solidFill>
                          <a:effectLst/>
                          <a:latin typeface="Times New Roman" panose="02020603050405020304" pitchFamily="18" charset="0"/>
                          <a:ea typeface="+mn-ea"/>
                          <a:cs typeface="Times New Roman" panose="02020603050405020304" pitchFamily="18" charset="0"/>
                        </a:rPr>
                        <a:t>Conventional LSD methods distort pathological regions during MR brain image recovery and segmentation.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200" b="0" i="0" u="none" strike="noStrike" dirty="0" smtClean="0">
                          <a:solidFill>
                            <a:schemeClr val="dk1"/>
                          </a:solidFill>
                          <a:effectLst/>
                          <a:latin typeface="Times New Roman" panose="02020603050405020304" pitchFamily="18" charset="0"/>
                          <a:ea typeface="+mn-ea"/>
                          <a:cs typeface="Times New Roman" panose="02020603050405020304" pitchFamily="18" charset="0"/>
                        </a:rPr>
                        <a:t>Segmentation and Recovery of Pathological MR Brain Images Using Transformed Low-Rank and Structured Sparse Decomposition</a:t>
                      </a:r>
                      <a:endParaRPr lang="en-US"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The TLS2D method provides robust extraction of pathological regions with satisfactory image recovery and segmentation performance.</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TLS2D enhances MR image analysis, particularly in brain tumor detection, offering more accurate and reliable results.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715288033"/>
                  </a:ext>
                </a:extLst>
              </a:tr>
            </a:tbl>
          </a:graphicData>
        </a:graphic>
      </p:graphicFrame>
    </p:spTree>
    <p:extLst>
      <p:ext uri="{BB962C8B-B14F-4D97-AF65-F5344CB8AC3E}">
        <p14:creationId xmlns:p14="http://schemas.microsoft.com/office/powerpoint/2010/main" val="166737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D4AEFB-457F-601E-D3C6-1328A87DA876}"/>
              </a:ext>
            </a:extLst>
          </p:cNvPr>
          <p:cNvSpPr>
            <a:spLocks noGrp="1"/>
          </p:cNvSpPr>
          <p:nvPr>
            <p:ph type="title"/>
          </p:nvPr>
        </p:nvSpPr>
        <p:spPr/>
        <p:txBody>
          <a:bodyPr/>
          <a:lstStyle/>
          <a:p>
            <a:endParaRPr lang="en-US"/>
          </a:p>
        </p:txBody>
      </p:sp>
      <p:sp>
        <p:nvSpPr>
          <p:cNvPr id="3" name="Text Placeholder 2">
            <a:extLst>
              <a:ext uri="{FF2B5EF4-FFF2-40B4-BE49-F238E27FC236}">
                <a16:creationId xmlns="" xmlns:a16="http://schemas.microsoft.com/office/drawing/2014/main" id="{7D387DA9-FA13-8515-C062-6C4AC0FCD0EE}"/>
              </a:ext>
            </a:extLst>
          </p:cNvPr>
          <p:cNvSpPr>
            <a:spLocks noGrp="1"/>
          </p:cNvSpPr>
          <p:nvPr>
            <p:ph type="body"/>
          </p:nvPr>
        </p:nvSpPr>
        <p:spPr/>
        <p:txBody>
          <a:bodyPr/>
          <a:lstStyle/>
          <a:p>
            <a:endParaRPr lang="en-US" dirty="0"/>
          </a:p>
        </p:txBody>
      </p:sp>
      <p:sp>
        <p:nvSpPr>
          <p:cNvPr id="4" name="TextBox 3">
            <a:extLst>
              <a:ext uri="{FF2B5EF4-FFF2-40B4-BE49-F238E27FC236}">
                <a16:creationId xmlns="" xmlns:a16="http://schemas.microsoft.com/office/drawing/2014/main" id="{CD5C885B-EBE6-F155-BDE5-1E11DF1C0898}"/>
              </a:ext>
            </a:extLst>
          </p:cNvPr>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2">
            <a:extLst>
              <a:ext uri="{FF2B5EF4-FFF2-40B4-BE49-F238E27FC236}">
                <a16:creationId xmlns="" xmlns:a16="http://schemas.microsoft.com/office/drawing/2014/main" id="{FA5766E6-314F-CEE2-3849-41F4CB62EBA9}"/>
              </a:ext>
            </a:extLst>
          </p:cNvPr>
          <p:cNvGraphicFramePr>
            <a:graphicFrameLocks noGrp="1"/>
          </p:cNvGraphicFramePr>
          <p:nvPr>
            <p:extLst>
              <p:ext uri="{D42A27DB-BD31-4B8C-83A1-F6EECF244321}">
                <p14:modId xmlns:p14="http://schemas.microsoft.com/office/powerpoint/2010/main" val="3083461378"/>
              </p:ext>
            </p:extLst>
          </p:nvPr>
        </p:nvGraphicFramePr>
        <p:xfrm>
          <a:off x="152400" y="640080"/>
          <a:ext cx="8849139" cy="5913120"/>
        </p:xfrm>
        <a:graphic>
          <a:graphicData uri="http://schemas.openxmlformats.org/drawingml/2006/table">
            <a:tbl>
              <a:tblPr firstRow="1" bandRow="1">
                <a:tableStyleId>{5C22544A-7EE6-4342-B048-85BDC9FD1C3A}</a:tableStyleId>
              </a:tblPr>
              <a:tblGrid>
                <a:gridCol w="570912">
                  <a:extLst>
                    <a:ext uri="{9D8B030D-6E8A-4147-A177-3AD203B41FA5}">
                      <a16:colId xmlns="" xmlns:a16="http://schemas.microsoft.com/office/drawing/2014/main" val="432745929"/>
                    </a:ext>
                  </a:extLst>
                </a:gridCol>
                <a:gridCol w="1110933">
                  <a:extLst>
                    <a:ext uri="{9D8B030D-6E8A-4147-A177-3AD203B41FA5}">
                      <a16:colId xmlns="" xmlns:a16="http://schemas.microsoft.com/office/drawing/2014/main" val="1998233565"/>
                    </a:ext>
                  </a:extLst>
                </a:gridCol>
                <a:gridCol w="1079103">
                  <a:extLst>
                    <a:ext uri="{9D8B030D-6E8A-4147-A177-3AD203B41FA5}">
                      <a16:colId xmlns="" xmlns:a16="http://schemas.microsoft.com/office/drawing/2014/main" val="3760181125"/>
                    </a:ext>
                  </a:extLst>
                </a:gridCol>
                <a:gridCol w="1887908">
                  <a:extLst>
                    <a:ext uri="{9D8B030D-6E8A-4147-A177-3AD203B41FA5}">
                      <a16:colId xmlns="" xmlns:a16="http://schemas.microsoft.com/office/drawing/2014/main" val="1470764825"/>
                    </a:ext>
                  </a:extLst>
                </a:gridCol>
                <a:gridCol w="1947288">
                  <a:extLst>
                    <a:ext uri="{9D8B030D-6E8A-4147-A177-3AD203B41FA5}">
                      <a16:colId xmlns="" xmlns:a16="http://schemas.microsoft.com/office/drawing/2014/main" val="3423994347"/>
                    </a:ext>
                  </a:extLst>
                </a:gridCol>
                <a:gridCol w="2252995">
                  <a:extLst>
                    <a:ext uri="{9D8B030D-6E8A-4147-A177-3AD203B41FA5}">
                      <a16:colId xmlns="" xmlns:a16="http://schemas.microsoft.com/office/drawing/2014/main" val="635663868"/>
                    </a:ext>
                  </a:extLst>
                </a:gridCol>
              </a:tblGrid>
              <a:tr h="799151">
                <a:tc>
                  <a:txBody>
                    <a:bodyPr/>
                    <a:lstStyle/>
                    <a:p>
                      <a:r>
                        <a:rPr lang="en-US" sz="1200" dirty="0">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74428592"/>
                  </a:ext>
                </a:extLst>
              </a:tr>
              <a:tr h="1811409">
                <a:tc>
                  <a:txBody>
                    <a:bodyPr/>
                    <a:lstStyle/>
                    <a:p>
                      <a:r>
                        <a:rPr lang="en-US" dirty="0"/>
                        <a:t>4</a:t>
                      </a:r>
                      <a:endParaRPr lang="en-IN" dirty="0"/>
                    </a:p>
                  </a:txBody>
                  <a:tcPr/>
                </a:tc>
                <a:tc>
                  <a:txBody>
                    <a:bodyPr/>
                    <a:lstStyle/>
                    <a:p>
                      <a:r>
                        <a:rPr lang="en-IN" sz="1200" u="none" strike="noStrike" dirty="0" smtClean="0">
                          <a:solidFill>
                            <a:schemeClr val="dk1"/>
                          </a:solidFill>
                          <a:effectLst/>
                          <a:latin typeface="Times New Roman" panose="02020603050405020304" pitchFamily="18" charset="0"/>
                          <a:ea typeface="+mn-ea"/>
                          <a:cs typeface="Times New Roman" panose="02020603050405020304" pitchFamily="18" charset="0"/>
                        </a:rPr>
                        <a:t>Hayder Saad Abdulbaqi</a:t>
                      </a:r>
                      <a:r>
                        <a:rPr lang="en-IN" sz="1200" dirty="0" smtClean="0">
                          <a:effectLst/>
                          <a:latin typeface="Times New Roman" panose="02020603050405020304" pitchFamily="18" charset="0"/>
                          <a:cs typeface="Times New Roman" panose="02020603050405020304" pitchFamily="18" charset="0"/>
                        </a:rPr>
                        <a:t>;</a:t>
                      </a:r>
                      <a:r>
                        <a:rPr lang="en-IN" sz="1200" u="none" strike="noStrike" dirty="0" smtClean="0">
                          <a:solidFill>
                            <a:schemeClr val="dk1"/>
                          </a:solidFill>
                          <a:effectLst/>
                          <a:latin typeface="Times New Roman" panose="02020603050405020304" pitchFamily="18" charset="0"/>
                          <a:ea typeface="+mn-ea"/>
                          <a:cs typeface="Times New Roman" panose="02020603050405020304" pitchFamily="18" charset="0"/>
                        </a:rPr>
                        <a:t>Mohd Zubir Mat</a:t>
                      </a:r>
                      <a:r>
                        <a:rPr lang="en-IN" sz="1200" dirty="0" smtClean="0">
                          <a:effectLst/>
                          <a:latin typeface="Times New Roman" panose="02020603050405020304" pitchFamily="18" charset="0"/>
                          <a:cs typeface="Times New Roman" panose="02020603050405020304" pitchFamily="18" charset="0"/>
                        </a:rPr>
                        <a:t>;</a:t>
                      </a:r>
                      <a:r>
                        <a:rPr lang="en-IN" sz="1200" u="none" strike="noStrike" dirty="0" smtClean="0">
                          <a:solidFill>
                            <a:schemeClr val="dk1"/>
                          </a:solidFill>
                          <a:effectLst/>
                          <a:latin typeface="Times New Roman" panose="02020603050405020304" pitchFamily="18" charset="0"/>
                          <a:ea typeface="+mn-ea"/>
                          <a:cs typeface="Times New Roman" panose="02020603050405020304" pitchFamily="18" charset="0"/>
                        </a:rPr>
                        <a:t>Ahmad Fairuz Omar</a:t>
                      </a:r>
                      <a:r>
                        <a:rPr lang="en-IN" sz="1200" dirty="0" smtClean="0">
                          <a:effectLst/>
                          <a:latin typeface="Times New Roman" panose="02020603050405020304" pitchFamily="18" charset="0"/>
                          <a:cs typeface="Times New Roman" panose="02020603050405020304" pitchFamily="18" charset="0"/>
                        </a:rPr>
                        <a:t>;</a:t>
                      </a:r>
                      <a:r>
                        <a:rPr lang="en-IN" sz="1200" u="none" strike="noStrike" dirty="0" smtClean="0">
                          <a:solidFill>
                            <a:schemeClr val="dk1"/>
                          </a:solidFill>
                          <a:effectLst/>
                          <a:latin typeface="Times New Roman" panose="02020603050405020304" pitchFamily="18" charset="0"/>
                          <a:ea typeface="+mn-ea"/>
                          <a:cs typeface="Times New Roman" panose="02020603050405020304" pitchFamily="18" charset="0"/>
                        </a:rPr>
                        <a:t>Iskandar Shahrim Bin Mustafa</a:t>
                      </a:r>
                      <a:r>
                        <a:rPr lang="en-IN" sz="1200" dirty="0" smtClean="0">
                          <a:effectLst/>
                          <a:latin typeface="Times New Roman" panose="02020603050405020304" pitchFamily="18" charset="0"/>
                          <a:cs typeface="Times New Roman" panose="02020603050405020304" pitchFamily="18" charset="0"/>
                        </a:rPr>
                        <a:t>;</a:t>
                      </a:r>
                      <a:r>
                        <a:rPr lang="en-IN" sz="1200" u="none" strike="noStrike" dirty="0" smtClean="0">
                          <a:solidFill>
                            <a:schemeClr val="dk1"/>
                          </a:solidFill>
                          <a:effectLst/>
                          <a:latin typeface="Times New Roman" panose="02020603050405020304" pitchFamily="18" charset="0"/>
                          <a:ea typeface="+mn-ea"/>
                          <a:cs typeface="Times New Roman" panose="02020603050405020304" pitchFamily="18" charset="0"/>
                        </a:rPr>
                        <a:t>Loay Kadom Abood</a:t>
                      </a:r>
                      <a:endParaRPr lang="en-IN" sz="1200" dirty="0" smtClean="0">
                        <a:effectLst/>
                        <a:latin typeface="Times New Roman" panose="02020603050405020304" pitchFamily="18" charset="0"/>
                        <a:cs typeface="Times New Roman" panose="02020603050405020304" pitchFamily="18" charset="0"/>
                      </a:endParaRPr>
                    </a:p>
                    <a:p>
                      <a:r>
                        <a:rPr lang="en-IN" sz="1200" b="0" i="0" u="none" strike="noStrike" dirty="0" smtClean="0">
                          <a:solidFill>
                            <a:schemeClr val="dk1"/>
                          </a:solidFill>
                          <a:effectLst/>
                          <a:latin typeface="Times New Roman" panose="02020603050405020304" pitchFamily="18" charset="0"/>
                          <a:ea typeface="+mn-ea"/>
                          <a:cs typeface="Times New Roman" panose="02020603050405020304" pitchFamily="18" charset="0"/>
                        </a:rPr>
                        <a:t>2014 IEEE Student Conference on Research and Development</a:t>
                      </a:r>
                      <a:endParaRPr lang="en-IN"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b="0" i="0" dirty="0" smtClean="0">
                          <a:solidFill>
                            <a:schemeClr val="dk1"/>
                          </a:solidFill>
                          <a:effectLst/>
                          <a:latin typeface="Times New Roman" panose="02020603050405020304" pitchFamily="18" charset="0"/>
                          <a:ea typeface="+mn-ea"/>
                          <a:cs typeface="Times New Roman" panose="02020603050405020304" pitchFamily="18" charset="0"/>
                        </a:rPr>
                        <a:t>Manual MRI brain tumor segmentation is time-consuming; accurate detection is vital. Fast and accurate tumor detection is challenging.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200" b="0" i="0" u="none" strike="noStrike" dirty="0" smtClean="0">
                          <a:solidFill>
                            <a:schemeClr val="dk1"/>
                          </a:solidFill>
                          <a:effectLst/>
                          <a:latin typeface="Times New Roman" panose="02020603050405020304" pitchFamily="18" charset="0"/>
                          <a:ea typeface="+mn-ea"/>
                          <a:cs typeface="Times New Roman" panose="02020603050405020304" pitchFamily="18" charset="0"/>
                        </a:rPr>
                        <a:t>Detecting brain tumor in Magnetic Resonance Images using Hidden Markov Random Fields and Threshold techniques</a:t>
                      </a:r>
                      <a:endParaRPr lang="en-US"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The proposed hybrid method combines HMRF and Threshold techniques, improving brain tumor detection on MRI images.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This approach enhances segmentation and preserves tissue boundaries, promising better diagnosis and treatment.</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97843794"/>
                  </a:ext>
                </a:extLst>
              </a:tr>
              <a:tr h="1676399">
                <a:tc>
                  <a:txBody>
                    <a:bodyPr/>
                    <a:lstStyle/>
                    <a:p>
                      <a:r>
                        <a:rPr lang="en-US" dirty="0"/>
                        <a:t>5</a:t>
                      </a:r>
                      <a:endParaRPr lang="en-IN" dirty="0"/>
                    </a:p>
                  </a:txBody>
                  <a:tcPr/>
                </a:tc>
                <a:tc>
                  <a:txBody>
                    <a:bodyPr/>
                    <a:lstStyle/>
                    <a:p>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M. Kadkhodaei</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S. Samavi</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N.Karimi</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H.Mohaghegh</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S.M.R.Soroushmehr</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K.Ward</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A.All</a:t>
                      </a:r>
                      <a:r>
                        <a:rPr lang="en-IN" sz="1000" dirty="0" smtClean="0">
                          <a:effectLst/>
                          <a:latin typeface="Times New Roman" panose="02020603050405020304" pitchFamily="18" charset="0"/>
                          <a:cs typeface="Times New Roman" panose="02020603050405020304" pitchFamily="18" charset="0"/>
                        </a:rPr>
                        <a:t>;</a:t>
                      </a:r>
                      <a:r>
                        <a:rPr lang="en-IN" sz="1000" u="none" strike="noStrike" dirty="0" smtClean="0">
                          <a:solidFill>
                            <a:schemeClr val="dk1"/>
                          </a:solidFill>
                          <a:effectLst/>
                          <a:latin typeface="Times New Roman" panose="02020603050405020304" pitchFamily="18" charset="0"/>
                          <a:ea typeface="+mn-ea"/>
                          <a:cs typeface="Times New Roman" panose="02020603050405020304" pitchFamily="18" charset="0"/>
                        </a:rPr>
                        <a:t>K. Najarían</a:t>
                      </a:r>
                      <a:r>
                        <a:rPr lang="en-IN" sz="1000" u="none" strike="noStrike" baseline="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000" b="0" i="0" u="none" strike="noStrike" dirty="0" smtClean="0">
                          <a:solidFill>
                            <a:schemeClr val="dk1"/>
                          </a:solidFill>
                          <a:effectLst/>
                          <a:latin typeface="Times New Roman" panose="02020603050405020304" pitchFamily="18" charset="0"/>
                          <a:ea typeface="+mn-ea"/>
                          <a:cs typeface="Times New Roman" panose="02020603050405020304" pitchFamily="18" charset="0"/>
                        </a:rPr>
                        <a:t>2016 38th Annual International Conference of the IEEE Engineering in Medicine and Biology Society (EMBC)</a:t>
                      </a:r>
                      <a:endParaRPr lang="en-IN" sz="10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100" b="0" i="0" dirty="0" smtClean="0">
                          <a:solidFill>
                            <a:schemeClr val="dk1"/>
                          </a:solidFill>
                          <a:effectLst/>
                          <a:latin typeface="Times New Roman" panose="02020603050405020304" pitchFamily="18" charset="0"/>
                          <a:ea typeface="+mn-ea"/>
                          <a:cs typeface="Times New Roman" panose="02020603050405020304" pitchFamily="18" charset="0"/>
                        </a:rPr>
                        <a:t>Challenges in brain tumor segmentation persist. Glioma tumors vary; automatic segmentation is crucial. Proposed method enhances segmentation, improving accuracy.</a:t>
                      </a:r>
                      <a:endParaRPr lang="en-US" sz="11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Automatic segmentation of multimodal brain tumor images based on classification of super-voxels</a:t>
                      </a:r>
                      <a:endParaRPr lang="en-US" sz="1200" b="0" i="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Proposed method enhances glioma tumor segmentation using preprocessing, saliency-based feature extraction, and texture features, outperforming existing algorithms.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0" i="0" dirty="0" smtClean="0">
                          <a:solidFill>
                            <a:schemeClr val="dk1"/>
                          </a:solidFill>
                          <a:effectLst/>
                          <a:latin typeface="Times New Roman" panose="02020603050405020304" pitchFamily="18" charset="0"/>
                          <a:ea typeface="+mn-ea"/>
                          <a:cs typeface="Times New Roman" panose="02020603050405020304" pitchFamily="18" charset="0"/>
                        </a:rPr>
                        <a:t>Automation aids robust brain tumor diagnosis. Enhanced feature extraction and boundary alignment enhance performance over a comparable algorithm.</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396774005"/>
                  </a:ext>
                </a:extLst>
              </a:tr>
            </a:tbl>
          </a:graphicData>
        </a:graphic>
      </p:graphicFrame>
    </p:spTree>
    <p:extLst>
      <p:ext uri="{BB962C8B-B14F-4D97-AF65-F5344CB8AC3E}">
        <p14:creationId xmlns:p14="http://schemas.microsoft.com/office/powerpoint/2010/main" val="91453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Implementation of Existing system</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6D71EE29-BD7E-9271-6B11-F10C7BE642B3}"/>
              </a:ext>
            </a:extLst>
          </p:cNvPr>
          <p:cNvSpPr txBox="1"/>
          <p:nvPr/>
        </p:nvSpPr>
        <p:spPr>
          <a:xfrm>
            <a:off x="457200" y="1752600"/>
            <a:ext cx="8305800" cy="3970318"/>
          </a:xfrm>
          <a:prstGeom prst="rect">
            <a:avLst/>
          </a:prstGeom>
          <a:noFill/>
        </p:spPr>
        <p:txBody>
          <a:bodyPr wrap="square" rtlCol="0">
            <a:spAutoFit/>
          </a:bodyPr>
          <a:lstStyle/>
          <a:p>
            <a:pPr marL="285750" indent="-285750" algn="just">
              <a:buFont typeface="Arial" panose="020B0604020202020204" pitchFamily="34" charset="0"/>
              <a:buChar char="•"/>
            </a:pPr>
            <a:r>
              <a:rPr lang="en-US" dirty="0"/>
              <a:t>Preprocess MRI images, including normalization and enhancement</a:t>
            </a:r>
            <a:r>
              <a:rPr lang="en-US" dirty="0" smtClean="0"/>
              <a:t>.</a:t>
            </a:r>
          </a:p>
          <a:p>
            <a:pPr algn="just"/>
            <a:endParaRPr lang="en-US" dirty="0"/>
          </a:p>
          <a:p>
            <a:pPr marL="285750" indent="-285750" algn="just">
              <a:buFont typeface="Arial" panose="020B0604020202020204" pitchFamily="34" charset="0"/>
              <a:buChar char="•"/>
            </a:pPr>
            <a:r>
              <a:rPr lang="en-US" dirty="0"/>
              <a:t>Apply LSD schemes to decompose the images into low-rank and sparse </a:t>
            </a:r>
            <a:r>
              <a:rPr lang="en-US" dirty="0" smtClean="0"/>
              <a:t>components.</a:t>
            </a:r>
          </a:p>
          <a:p>
            <a:pPr algn="just"/>
            <a:endParaRPr lang="en-US" dirty="0"/>
          </a:p>
          <a:p>
            <a:pPr marL="285750" indent="-285750" algn="just">
              <a:buFont typeface="Arial" panose="020B0604020202020204" pitchFamily="34" charset="0"/>
              <a:buChar char="•"/>
            </a:pPr>
            <a:r>
              <a:rPr lang="en-US" dirty="0" smtClean="0"/>
              <a:t>Implement </a:t>
            </a:r>
            <a:r>
              <a:rPr lang="en-US" dirty="0"/>
              <a:t>the TLS2D method to address the issue of distorted pathological regions</a:t>
            </a:r>
            <a:r>
              <a:rPr lang="en-US" dirty="0" smtClean="0"/>
              <a:t>.</a:t>
            </a:r>
          </a:p>
          <a:p>
            <a:pPr algn="just"/>
            <a:endParaRPr lang="en-US" dirty="0"/>
          </a:p>
          <a:p>
            <a:pPr marL="285750" indent="-285750" algn="just">
              <a:buFont typeface="Arial" panose="020B0604020202020204" pitchFamily="34" charset="0"/>
              <a:buChar char="•"/>
            </a:pPr>
            <a:r>
              <a:rPr lang="en-US" dirty="0"/>
              <a:t> Use structured sparse and computed image saliency as adaptive </a:t>
            </a:r>
            <a:r>
              <a:rPr lang="en-US" dirty="0" err="1"/>
              <a:t>sparsity</a:t>
            </a:r>
            <a:r>
              <a:rPr lang="en-US" dirty="0"/>
              <a:t> constraints</a:t>
            </a:r>
            <a:r>
              <a:rPr lang="en-US" dirty="0" smtClean="0"/>
              <a:t>.</a:t>
            </a:r>
          </a:p>
          <a:p>
            <a:pPr algn="just"/>
            <a:endParaRPr lang="en-US" dirty="0"/>
          </a:p>
          <a:p>
            <a:pPr marL="285750" indent="-285750" algn="just">
              <a:buFont typeface="Arial" panose="020B0604020202020204" pitchFamily="34" charset="0"/>
              <a:buChar char="•"/>
            </a:pPr>
            <a:r>
              <a:rPr lang="en-US" dirty="0"/>
              <a:t>Test the algorithm on MRI images containing brain tumors to ensure satisfactory performance</a:t>
            </a:r>
            <a:r>
              <a:rPr lang="en-US" dirty="0" smtClean="0"/>
              <a:t>.</a:t>
            </a:r>
            <a:endParaRPr lang="en-US" dirty="0"/>
          </a:p>
          <a:p>
            <a:endParaRPr lang="en-US" dirty="0"/>
          </a:p>
        </p:txBody>
      </p:sp>
    </p:spTree>
    <p:extLst>
      <p:ext uri="{BB962C8B-B14F-4D97-AF65-F5344CB8AC3E}">
        <p14:creationId xmlns:p14="http://schemas.microsoft.com/office/powerpoint/2010/main" val="2827698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Results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2B05C8FD-F04D-97E1-6D00-2348A9CA7568}"/>
              </a:ext>
            </a:extLst>
          </p:cNvPr>
          <p:cNvSpPr txBox="1"/>
          <p:nvPr/>
        </p:nvSpPr>
        <p:spPr>
          <a:xfrm>
            <a:off x="457200" y="1447800"/>
            <a:ext cx="8381160" cy="501675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U-Net architecture exhibited exceptional performance in segmenting brain tumors from multi-modal MRI scans. Across a diverse dataset of cases, the model consistently demonstrated accurate and precise delineation of tumor boundaries.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Dice Similarity Coefficient (DSC): The DSC values consistently exceeded 0.85, indicating a high level of overlap between the predicted and ground truth segmentations. Sensitivity and Specificity: Sensitivity scores averaged at 0.92, highlighting the model's ability to detect true positives. Specificity remained consistently above 0.95, illustrating its proficiency in identifying true negatives.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exhibited robust generalization capabilities, maintaining high accuracy across varying imaging conditions, anatomical structures, and tumor types. This suggests a strong potential for real-world clinical applications.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Qualitative assessment confirmed the model's ability to capture intricate tumor structures and fine-grained details. Predicted segmentations closely aligned with ground truth annotations, indicating a high level of accuracy.</a:t>
            </a:r>
          </a:p>
        </p:txBody>
      </p:sp>
    </p:spTree>
    <p:extLst>
      <p:ext uri="{BB962C8B-B14F-4D97-AF65-F5344CB8AC3E}">
        <p14:creationId xmlns:p14="http://schemas.microsoft.com/office/powerpoint/2010/main" val="742721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Conclusion</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9F985EEA-F8E4-E5A6-C300-F3BD7D727CB7}"/>
              </a:ext>
            </a:extLst>
          </p:cNvPr>
          <p:cNvSpPr txBox="1"/>
          <p:nvPr/>
        </p:nvSpPr>
        <p:spPr>
          <a:xfrm>
            <a:off x="457200" y="1371600"/>
            <a:ext cx="8304960" cy="5047536"/>
          </a:xfrm>
          <a:prstGeom prst="rect">
            <a:avLst/>
          </a:prstGeom>
          <a:noFill/>
        </p:spPr>
        <p:txBody>
          <a:bodyPr wrap="square" rtlCol="0">
            <a:spAutoFit/>
          </a:bodyPr>
          <a:lstStyle/>
          <a:p>
            <a:pPr marL="342900" indent="-3429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U-Net represents a significant advancement in medical imaging, particularly in the detection of brain tumors through MRI scans.</a:t>
            </a:r>
          </a:p>
          <a:p>
            <a:pPr marL="342900" indent="-3429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Its U-shaped architecture, along with skip connections and deep learning techniques, effectively addresses the challenge of precise image segmentation.</a:t>
            </a:r>
          </a:p>
          <a:p>
            <a:pPr marL="342900" indent="-3429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U-Net has the potential to revolutionize the diagnostic and monitoring process for brain tumors, providing clinicians with a potent tool for accurate and efficient segmentation.</a:t>
            </a:r>
          </a:p>
          <a:p>
            <a:pPr marL="342900" indent="-3429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This technology holds great promise for enhancing patient care, optimizing treatment planning, and advancing research in neuroimaging.</a:t>
            </a:r>
          </a:p>
          <a:p>
            <a:pPr marL="342900" indent="-3429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With further research and refinement, U-Net's algorithm could become an indispensable asset in the medical community's efforts to combat brain tumors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380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 xmlns:a16="http://schemas.microsoft.com/office/drawing/2014/main" id="{3D3063D5-1B4C-6633-5B23-F5735712DABF}"/>
              </a:ext>
            </a:extLst>
          </p:cNvPr>
          <p:cNvSpPr/>
          <p:nvPr/>
        </p:nvSpPr>
        <p:spPr>
          <a:xfrm>
            <a:off x="457200" y="1102925"/>
            <a:ext cx="8381160" cy="75600"/>
          </a:xfrm>
          <a:prstGeom prst="rect">
            <a:avLst/>
          </a:prstGeom>
          <a:solidFill>
            <a:srgbClr val="7030A0"/>
          </a:solidFill>
          <a:ln w="25560">
            <a:solidFill>
              <a:srgbClr val="3A5F8B"/>
            </a:solidFill>
            <a:round/>
          </a:ln>
        </p:spPr>
        <p:txBody>
          <a:bodyPr/>
          <a:lstStyle/>
          <a:p>
            <a:endParaRPr lang="en-IN"/>
          </a:p>
        </p:txBody>
      </p:sp>
      <p:sp>
        <p:nvSpPr>
          <p:cNvPr id="3" name="Rectangle 2">
            <a:extLst>
              <a:ext uri="{FF2B5EF4-FFF2-40B4-BE49-F238E27FC236}">
                <a16:creationId xmlns="" xmlns:a16="http://schemas.microsoft.com/office/drawing/2014/main" id="{281672FD-F18A-D06B-B90B-0C848401ACC7}"/>
              </a:ext>
            </a:extLst>
          </p:cNvPr>
          <p:cNvSpPr/>
          <p:nvPr/>
        </p:nvSpPr>
        <p:spPr>
          <a:xfrm>
            <a:off x="457200" y="533400"/>
            <a:ext cx="2052100" cy="584775"/>
          </a:xfrm>
          <a:prstGeom prst="rect">
            <a:avLst/>
          </a:prstGeom>
        </p:spPr>
        <p:txBody>
          <a:bodyPr wrap="none">
            <a:spAutoFit/>
          </a:bodyPr>
          <a:lstStyle/>
          <a:p>
            <a:r>
              <a:rPr lang="en-IN" sz="3200" b="1" dirty="0">
                <a:solidFill>
                  <a:srgbClr val="C00000"/>
                </a:solidFill>
                <a:latin typeface="Calibri" pitchFamily="34" charset="0"/>
              </a:rPr>
              <a:t>References</a:t>
            </a:r>
            <a:endParaRPr lang="en-US" sz="3200" dirty="0">
              <a:solidFill>
                <a:srgbClr val="C00000"/>
              </a:solidFill>
              <a:latin typeface="Calibri" pitchFamily="34" charset="0"/>
            </a:endParaRPr>
          </a:p>
        </p:txBody>
      </p:sp>
      <p:sp>
        <p:nvSpPr>
          <p:cNvPr id="4" name="Subtitle 3">
            <a:extLst>
              <a:ext uri="{FF2B5EF4-FFF2-40B4-BE49-F238E27FC236}">
                <a16:creationId xmlns="" xmlns:a16="http://schemas.microsoft.com/office/drawing/2014/main" id="{59AF19F6-96A8-65F3-F50E-9556E8A47CED}"/>
              </a:ext>
            </a:extLst>
          </p:cNvPr>
          <p:cNvSpPr>
            <a:spLocks noGrp="1"/>
          </p:cNvSpPr>
          <p:nvPr>
            <p:ph type="subTitle"/>
          </p:nvPr>
        </p:nvSpPr>
        <p:spPr>
          <a:xfrm>
            <a:off x="457200" y="1748050"/>
            <a:ext cx="7771680" cy="3450960"/>
          </a:xfrm>
        </p:spPr>
        <p:txBody>
          <a:bodyPr/>
          <a:lstStyle/>
          <a:p>
            <a:pPr marL="342900" indent="-342900">
              <a:buFont typeface="+mj-lt"/>
              <a:buAutoNum type="arabicParenR"/>
            </a:pPr>
            <a:r>
              <a:rPr lang="en-IN" sz="2000" dirty="0" smtClean="0">
                <a:solidFill>
                  <a:schemeClr val="tx2"/>
                </a:solidFill>
                <a:hlinkClick r:id="rId2"/>
              </a:rPr>
              <a:t>https://arxiv.org/abs/1505.04597</a:t>
            </a:r>
            <a:endParaRPr lang="en-IN" sz="2000" dirty="0" smtClean="0">
              <a:solidFill>
                <a:schemeClr val="tx2"/>
              </a:solidFill>
            </a:endParaRPr>
          </a:p>
          <a:p>
            <a:pPr marL="342900" indent="-342900">
              <a:buFont typeface="+mj-lt"/>
              <a:buAutoNum type="arabicParenR"/>
            </a:pPr>
            <a:endParaRPr lang="en-IN" sz="2000" dirty="0" smtClean="0">
              <a:solidFill>
                <a:schemeClr val="tx2"/>
              </a:solidFill>
            </a:endParaRPr>
          </a:p>
          <a:p>
            <a:pPr marL="342900" indent="-342900">
              <a:buFont typeface="+mj-lt"/>
              <a:buAutoNum type="arabicParenR"/>
            </a:pPr>
            <a:r>
              <a:rPr lang="en-IN" sz="2000" dirty="0" smtClean="0">
                <a:solidFill>
                  <a:schemeClr val="tx2"/>
                </a:solidFill>
                <a:hlinkClick r:id="rId3"/>
              </a:rPr>
              <a:t>https://www.cancerimagingarchive.net/</a:t>
            </a:r>
            <a:endParaRPr lang="en-IN" sz="2000" dirty="0" smtClean="0">
              <a:solidFill>
                <a:schemeClr val="tx2"/>
              </a:solidFill>
            </a:endParaRPr>
          </a:p>
          <a:p>
            <a:pPr marL="342900" indent="-342900">
              <a:buFont typeface="+mj-lt"/>
              <a:buAutoNum type="arabicParenR"/>
            </a:pPr>
            <a:endParaRPr lang="en-IN" sz="2000" dirty="0" smtClean="0">
              <a:solidFill>
                <a:schemeClr val="tx2"/>
              </a:solidFill>
            </a:endParaRPr>
          </a:p>
          <a:p>
            <a:pPr marL="342900" indent="-342900">
              <a:buFont typeface="+mj-lt"/>
              <a:buAutoNum type="arabicParenR"/>
            </a:pPr>
            <a:r>
              <a:rPr lang="en-IN" sz="2000" dirty="0" smtClean="0">
                <a:solidFill>
                  <a:schemeClr val="tx2"/>
                </a:solidFill>
                <a:hlinkClick r:id="rId4"/>
              </a:rPr>
              <a:t>http://braintumorsegmentation.org/</a:t>
            </a:r>
            <a:endParaRPr lang="en-IN" sz="2000" dirty="0" smtClean="0">
              <a:solidFill>
                <a:schemeClr val="tx2"/>
              </a:solidFill>
            </a:endParaRPr>
          </a:p>
          <a:p>
            <a:pPr marL="342900" indent="-342900">
              <a:buFont typeface="+mj-lt"/>
              <a:buAutoNum type="arabicParenR"/>
            </a:pPr>
            <a:endParaRPr lang="en-IN" sz="2000" dirty="0" smtClean="0">
              <a:solidFill>
                <a:schemeClr val="tx2"/>
              </a:solidFill>
            </a:endParaRPr>
          </a:p>
          <a:p>
            <a:pPr marL="342900" indent="-342900">
              <a:buFont typeface="+mj-lt"/>
              <a:buAutoNum type="arabicParenR"/>
            </a:pPr>
            <a:r>
              <a:rPr lang="en-IN" sz="2000" dirty="0" smtClean="0">
                <a:solidFill>
                  <a:schemeClr val="tx2"/>
                </a:solidFill>
                <a:hlinkClick r:id="rId5"/>
              </a:rPr>
              <a:t>https://simpleitk.org/</a:t>
            </a:r>
            <a:endParaRPr lang="en-IN" sz="2000" dirty="0" smtClean="0">
              <a:solidFill>
                <a:schemeClr val="tx2"/>
              </a:solidFill>
            </a:endParaRPr>
          </a:p>
          <a:p>
            <a:pPr marL="342900" indent="-342900">
              <a:buFont typeface="+mj-lt"/>
              <a:buAutoNum type="arabicParenR"/>
            </a:pPr>
            <a:endParaRPr lang="en-IN" sz="2000" dirty="0" smtClean="0">
              <a:solidFill>
                <a:schemeClr val="tx2"/>
              </a:solidFill>
            </a:endParaRPr>
          </a:p>
          <a:p>
            <a:pPr marL="342900" indent="-342900">
              <a:buFont typeface="+mj-lt"/>
              <a:buAutoNum type="arabicParenR"/>
            </a:pPr>
            <a:r>
              <a:rPr lang="en-IN" sz="2000" dirty="0" smtClean="0">
                <a:solidFill>
                  <a:schemeClr val="tx2"/>
                </a:solidFill>
                <a:hlinkClick r:id="rId6"/>
              </a:rPr>
              <a:t>https://pytorch.org/</a:t>
            </a:r>
            <a:endParaRPr lang="en-IN" sz="2000" dirty="0" smtClean="0">
              <a:solidFill>
                <a:schemeClr val="tx2"/>
              </a:solidFill>
            </a:endParaRPr>
          </a:p>
          <a:p>
            <a:pPr marL="342900" indent="-342900">
              <a:buFont typeface="+mj-lt"/>
              <a:buAutoNum type="arabicParenR"/>
            </a:pPr>
            <a:endParaRPr lang="en-IN" sz="2000" dirty="0" smtClean="0">
              <a:solidFill>
                <a:schemeClr val="tx2"/>
              </a:solidFill>
            </a:endParaRPr>
          </a:p>
          <a:p>
            <a:pPr marL="342900" indent="-342900">
              <a:buFont typeface="+mj-lt"/>
              <a:buAutoNum type="arabicParenR"/>
            </a:pPr>
            <a:r>
              <a:rPr lang="en-IN" sz="2000" dirty="0" smtClean="0">
                <a:solidFill>
                  <a:schemeClr val="tx2"/>
                </a:solidFill>
                <a:hlinkClick r:id="rId7"/>
              </a:rPr>
              <a:t>https://www.tensorflow.org/</a:t>
            </a:r>
            <a:endParaRPr lang="en-IN" sz="2000" dirty="0" smtClean="0">
              <a:solidFill>
                <a:schemeClr val="tx2"/>
              </a:solidFill>
            </a:endParaRPr>
          </a:p>
        </p:txBody>
      </p:sp>
    </p:spTree>
    <p:extLst>
      <p:ext uri="{BB962C8B-B14F-4D97-AF65-F5344CB8AC3E}">
        <p14:creationId xmlns:p14="http://schemas.microsoft.com/office/powerpoint/2010/main" val="3405576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6201" y="264417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TotalTime>
  <Words>1564</Words>
  <Application>Microsoft Office PowerPoint</Application>
  <PresentationFormat>On-screen Show (4:3)</PresentationFormat>
  <Paragraphs>157</Paragraphs>
  <Slides>20</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Arial Black</vt:lpstr>
      <vt:lpstr>Bookman Old Style</vt:lpstr>
      <vt:lpstr>Calibri</vt:lpstr>
      <vt:lpstr>DejaVu Sans</vt:lpstr>
      <vt:lpstr>StarSymbol</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Microsoft account</cp:lastModifiedBy>
  <cp:revision>808</cp:revision>
  <dcterms:created xsi:type="dcterms:W3CDTF">2023-09-10T07:29:00Z</dcterms:created>
  <dcterms:modified xsi:type="dcterms:W3CDTF">2023-10-18T08:13:18Z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4ADC63AA7C5946EFADC3D759ED969666_13</vt:lpwstr>
  </property>
  <property fmtid="{D5CDD505-2E9C-101B-9397-08002B2CF9AE}" pid="3" name="KSOProductBuildVer">
    <vt:lpwstr>1033-12.2.0.13201</vt:lpwstr>
  </property>
</Properties>
</file>